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c:v>
                </c:pt>
              </c:strCache>
            </c:strRef>
          </c:tx>
          <c:dPt>
            <c:idx val="0"/>
            <c:spPr>
              <a:solidFill>
                <a:srgbClr val="B91C1C"/>
              </a:solidFill>
            </c:spPr>
          </c:dPt>
          <c:dPt>
            <c:idx val="1"/>
            <c:spPr>
              <a:solidFill>
                <a:srgbClr val="E2E8F0"/>
              </a:solidFill>
            </c:spPr>
          </c:dPt>
          <c:cat>
            <c:strRef>
              <c:f>Sheet1!$A$2:$A$3</c:f>
              <c:strCache>
                <c:ptCount val="2"/>
                <c:pt idx="0">
                  <c:v>value</c:v>
                </c:pt>
                <c:pt idx="1">
                  <c:v>rest</c:v>
                </c:pt>
              </c:strCache>
            </c:strRef>
          </c:cat>
          <c:val>
            <c:numRef>
              <c:f>Sheet1!$B$2:$B$3</c:f>
              <c:numCache>
                <c:formatCode>General</c:formatCode>
                <c:ptCount val="2"/>
                <c:pt idx="0">
                  <c:v>35</c:v>
                </c:pt>
                <c:pt idx="1">
                  <c:v>65</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c:v>
                </c:pt>
              </c:strCache>
            </c:strRef>
          </c:tx>
          <c:dPt>
            <c:idx val="0"/>
            <c:spPr>
              <a:solidFill>
                <a:srgbClr val="4338CA"/>
              </a:solidFill>
            </c:spPr>
          </c:dPt>
          <c:dPt>
            <c:idx val="1"/>
            <c:spPr>
              <a:solidFill>
                <a:srgbClr val="E2E8F0"/>
              </a:solidFill>
            </c:spPr>
          </c:dPt>
          <c:cat>
            <c:strRef>
              <c:f>Sheet1!$A$2:$A$3</c:f>
              <c:strCache>
                <c:ptCount val="2"/>
                <c:pt idx="0">
                  <c:v>value</c:v>
                </c:pt>
                <c:pt idx="1">
                  <c:v>rest</c:v>
                </c:pt>
              </c:strCache>
            </c:strRef>
          </c:cat>
          <c:val>
            <c:numRef>
              <c:f>Sheet1!$B$2:$B$3</c:f>
              <c:numCache>
                <c:formatCode>General</c:formatCode>
                <c:ptCount val="2"/>
                <c:pt idx="0">
                  <c:v>46</c:v>
                </c:pt>
                <c:pt idx="1">
                  <c:v>54</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Score</c:v>
                </c:pt>
              </c:strCache>
            </c:strRef>
          </c:tx>
          <c:dPt>
            <c:idx val="0"/>
            <c:spPr>
              <a:solidFill>
                <a:srgbClr val="D97706"/>
              </a:solidFill>
            </c:spPr>
          </c:dPt>
          <c:dPt>
            <c:idx val="1"/>
            <c:spPr>
              <a:solidFill>
                <a:srgbClr val="15803D"/>
              </a:solidFill>
            </c:spPr>
          </c:dPt>
          <c:dPt>
            <c:idx val="2"/>
            <c:spPr>
              <a:solidFill>
                <a:srgbClr val="15803D"/>
              </a:solidFill>
            </c:spPr>
          </c:dPt>
          <c:dPt>
            <c:idx val="3"/>
            <c:spPr>
              <a:solidFill>
                <a:srgbClr val="65A30D"/>
              </a:solidFill>
            </c:spPr>
          </c:dPt>
          <c:dPt>
            <c:idx val="4"/>
            <c:spPr>
              <a:solidFill>
                <a:srgbClr val="D97706"/>
              </a:solidFill>
            </c:spPr>
          </c:dPt>
          <c:dPt>
            <c:idx val="5"/>
            <c:spPr>
              <a:solidFill>
                <a:srgbClr val="B91C1C"/>
              </a:solidFill>
            </c:spPr>
          </c:dPt>
          <c:cat>
            <c:strRef>
              <c:f>Sheet1!$A$2:$A$7</c:f>
              <c:strCache>
                <c:ptCount val="6"/>
                <c:pt idx="0">
                  <c:v>Maintainability &amp; Sustainability</c:v>
                </c:pt>
                <c:pt idx="1">
                  <c:v>Observability &amp; Auditability</c:v>
                </c:pt>
                <c:pt idx="2">
                  <c:v>Reliability &amp; Resilience</c:v>
                </c:pt>
                <c:pt idx="3">
                  <c:v>Performance &amp; Token Efficiency</c:v>
                </c:pt>
                <c:pt idx="4">
                  <c:v>Scalability</c:v>
                </c:pt>
                <c:pt idx="5">
                  <c:v>Security</c:v>
                </c:pt>
              </c:strCache>
            </c:strRef>
          </c:cat>
          <c:val>
            <c:numRef>
              <c:f>Sheet1!$B$2:$B$7</c:f>
              <c:numCache>
                <c:formatCode>General</c:formatCode>
                <c:ptCount val="6"/>
                <c:pt idx="0">
                  <c:v>55</c:v>
                </c:pt>
                <c:pt idx="1">
                  <c:v>85</c:v>
                </c:pt>
                <c:pt idx="2">
                  <c:v>82</c:v>
                </c:pt>
                <c:pt idx="3">
                  <c:v>72</c:v>
                </c:pt>
                <c:pt idx="4">
                  <c:v>50</c:v>
                </c:pt>
                <c:pt idx="5">
                  <c:v>0</c:v>
                </c:pt>
              </c:numCache>
            </c:numRef>
          </c:val>
        </c:ser>
        <c:dLbls>
          <c:txPr>
            <a:bodyPr/>
            <a:lstStyle/>
            <a:p>
              <a:pPr>
                <a:defRPr sz="1100" b="1"/>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100.0"/>
          <c:min val="0.0"/>
        </c:scaling>
        <c:delete val="0"/>
        <c:axPos val="b"/>
        <c:majorGridlines>
          <c:spPr>
            <a:ln>
              <a:solidFill>
                <a:srgbClr val="E2E8F0"/>
              </a:solidFill>
            </a:ln>
          </c:spPr>
        </c:majorGridlines>
        <c:majorTickMark val="out"/>
        <c:minorTickMark val="none"/>
        <c:tickLblPos val="nextTo"/>
        <c:txPr>
          <a:bodyPr/>
          <a:lstStyle/>
          <a:p>
            <a:pPr>
              <a:defRPr sz="10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Open findings</c:v>
                </c:pt>
              </c:strCache>
            </c:strRef>
          </c:tx>
          <c:dPt>
            <c:idx val="0"/>
            <c:spPr>
              <a:solidFill>
                <a:srgbClr val="B91C1C"/>
              </a:solidFill>
            </c:spPr>
          </c:dPt>
          <c:dPt>
            <c:idx val="1"/>
            <c:spPr>
              <a:solidFill>
                <a:srgbClr val="EA580C"/>
              </a:solidFill>
            </c:spPr>
          </c:dPt>
          <c:dPt>
            <c:idx val="2"/>
            <c:spPr>
              <a:solidFill>
                <a:srgbClr val="D97706"/>
              </a:solidFill>
            </c:spPr>
          </c:dPt>
          <c:dPt>
            <c:idx val="3"/>
            <c:spPr>
              <a:solidFill>
                <a:srgbClr val="2563EB"/>
              </a:solidFill>
            </c:spPr>
          </c:dPt>
          <c:cat>
            <c:strRef>
              <c:f>Sheet1!$A$2:$A$5</c:f>
              <c:strCache>
                <c:ptCount val="4"/>
                <c:pt idx="0">
                  <c:v>Critical</c:v>
                </c:pt>
                <c:pt idx="1">
                  <c:v>High</c:v>
                </c:pt>
                <c:pt idx="2">
                  <c:v>Medium</c:v>
                </c:pt>
                <c:pt idx="3">
                  <c:v>Low</c:v>
                </c:pt>
              </c:strCache>
            </c:strRef>
          </c:cat>
          <c:val>
            <c:numRef>
              <c:f>Sheet1!$B$2:$B$5</c:f>
              <c:numCache>
                <c:formatCode>General</c:formatCode>
                <c:ptCount val="4"/>
                <c:pt idx="0">
                  <c:v>5</c:v>
                </c:pt>
                <c:pt idx="1">
                  <c:v>14</c:v>
                </c:pt>
                <c:pt idx="2">
                  <c:v>10</c:v>
                </c:pt>
                <c:pt idx="3">
                  <c:v>1</c:v>
                </c:pt>
              </c:numCache>
            </c:numRef>
          </c:val>
        </c:ser>
        <c:dLbls>
          <c:txPr>
            <a:bodyPr/>
            <a:lstStyle/>
            <a:p>
              <a:pPr>
                <a:defRPr sz="11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617720"/>
            <a:ext cx="12191695" cy="64008"/>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9144000" cy="365760"/>
          </a:xfrm>
          <a:prstGeom prst="rect">
            <a:avLst/>
          </a:prstGeom>
          <a:noFill/>
        </p:spPr>
        <p:txBody>
          <a:bodyPr wrap="square" lIns="36576" rIns="36576" tIns="18288" bIns="18288" anchor="t">
            <a:spAutoFit/>
          </a:bodyPr>
          <a:lstStyle/>
          <a:p>
            <a:pPr algn="l"/>
            <a:r>
              <a:rPr sz="1300" b="1">
                <a:solidFill>
                  <a:srgbClr val="A5B4FC"/>
                </a:solidFill>
                <a:latin typeface="Calibri"/>
              </a:rPr>
              <a:t>ASSAY · MCP PRODUCTION READINESS AUDIT</a:t>
            </a:r>
          </a:p>
        </p:txBody>
      </p:sp>
      <p:sp>
        <p:nvSpPr>
          <p:cNvPr id="5" name="TextBox 4"/>
          <p:cNvSpPr txBox="1"/>
          <p:nvPr/>
        </p:nvSpPr>
        <p:spPr>
          <a:xfrm>
            <a:off x="731520" y="1371600"/>
            <a:ext cx="10515600" cy="1005840"/>
          </a:xfrm>
          <a:prstGeom prst="rect">
            <a:avLst/>
          </a:prstGeom>
          <a:noFill/>
        </p:spPr>
        <p:txBody>
          <a:bodyPr wrap="square" lIns="36576" rIns="36576" tIns="18288" bIns="18288" anchor="t">
            <a:spAutoFit/>
          </a:bodyPr>
          <a:lstStyle/>
          <a:p>
            <a:pPr algn="l"/>
            <a:r>
              <a:rPr sz="4400" b="1">
                <a:solidFill>
                  <a:srgbClr val="FFFFFF"/>
                </a:solidFill>
                <a:latin typeface="Calibri"/>
              </a:rPr>
              <a:t>orders-mcp (sample)</a:t>
            </a:r>
          </a:p>
        </p:txBody>
      </p:sp>
      <p:sp>
        <p:nvSpPr>
          <p:cNvPr id="6" name="TextBox 5"/>
          <p:cNvSpPr txBox="1"/>
          <p:nvPr/>
        </p:nvSpPr>
        <p:spPr>
          <a:xfrm>
            <a:off x="731520" y="2331720"/>
            <a:ext cx="10058400" cy="457200"/>
          </a:xfrm>
          <a:prstGeom prst="rect">
            <a:avLst/>
          </a:prstGeom>
          <a:noFill/>
        </p:spPr>
        <p:txBody>
          <a:bodyPr wrap="square" lIns="36576" rIns="36576" tIns="18288" bIns="18288" anchor="t">
            <a:spAutoFit/>
          </a:bodyPr>
          <a:lstStyle/>
          <a:p>
            <a:pPr algn="l"/>
            <a:r>
              <a:rPr sz="1800" b="0">
                <a:solidFill>
                  <a:srgbClr val="CBD5E1"/>
                </a:solidFill>
                <a:latin typeface="Calibri"/>
              </a:rPr>
              <a:t>Security · Scalability · Performance · Sustainability</a:t>
            </a:r>
          </a:p>
        </p:txBody>
      </p:sp>
      <p:sp>
        <p:nvSpPr>
          <p:cNvPr id="7" name="TextBox 6"/>
          <p:cNvSpPr txBox="1"/>
          <p:nvPr/>
        </p:nvSpPr>
        <p:spPr>
          <a:xfrm>
            <a:off x="731520" y="3063240"/>
            <a:ext cx="7315200" cy="1280160"/>
          </a:xfrm>
          <a:prstGeom prst="rect">
            <a:avLst/>
          </a:prstGeom>
          <a:noFill/>
        </p:spPr>
        <p:txBody>
          <a:bodyPr wrap="square" lIns="36576" rIns="36576" tIns="18288" bIns="18288" anchor="t">
            <a:spAutoFit/>
          </a:bodyPr>
          <a:lstStyle/>
          <a:p>
            <a:pPr algn="l"/>
            <a:r>
              <a:rPr sz="1200" b="0">
                <a:solidFill>
                  <a:srgbClr val="94A3B8"/>
                </a:solidFill>
                <a:latin typeface="Calibri"/>
              </a:rPr>
              <a:t>16 October 2026, 17:17</a:t>
            </a:r>
          </a:p>
          <a:p>
            <a:pPr algn="l"/>
            <a:r>
              <a:rPr sz="1200" b="0">
                <a:solidFill>
                  <a:srgbClr val="94A3B8"/>
                </a:solidFill>
                <a:latin typeface="Calibri"/>
              </a:rPr>
              <a:t>Local folder: samples/vulnerable-python-mcp</a:t>
            </a:r>
          </a:p>
          <a:p>
            <a:pPr algn="l"/>
            <a:r>
              <a:rPr sz="1200" b="0">
                <a:solidFill>
                  <a:srgbClr val="94A3B8"/>
                </a:solidFill>
                <a:latin typeface="Calibri"/>
              </a:rPr>
              <a:t>Context: shared deployment, internal, medium data sensitivity</a:t>
            </a:r>
          </a:p>
        </p:txBody>
      </p:sp>
      <p:sp>
        <p:nvSpPr>
          <p:cNvPr id="8" name="Rounded Rectangle 7"/>
          <p:cNvSpPr/>
          <p:nvPr/>
        </p:nvSpPr>
        <p:spPr>
          <a:xfrm>
            <a:off x="731520" y="5074920"/>
            <a:ext cx="3840480" cy="685800"/>
          </a:xfrm>
          <a:prstGeom prst="roundRect">
            <a:avLst>
              <a:gd name="adj" fmla="val 18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rPr>
              <a:t>NO-GO</a:t>
            </a:r>
          </a:p>
        </p:txBody>
      </p:sp>
      <p:sp>
        <p:nvSpPr>
          <p:cNvPr id="9" name="TextBox 8"/>
          <p:cNvSpPr txBox="1"/>
          <p:nvPr/>
        </p:nvSpPr>
        <p:spPr>
          <a:xfrm>
            <a:off x="6766560" y="4892040"/>
            <a:ext cx="4754880" cy="914400"/>
          </a:xfrm>
          <a:prstGeom prst="rect">
            <a:avLst/>
          </a:prstGeom>
          <a:noFill/>
        </p:spPr>
        <p:txBody>
          <a:bodyPr wrap="square" lIns="36576" rIns="36576" tIns="18288" bIns="18288" anchor="t">
            <a:spAutoFit/>
          </a:bodyPr>
          <a:lstStyle/>
          <a:p>
            <a:pPr algn="r"/>
            <a:r>
              <a:rPr sz="5400" b="1">
                <a:solidFill>
                  <a:srgbClr val="FFFFFF"/>
                </a:solidFill>
                <a:latin typeface="Calibri"/>
              </a:rPr>
              <a:t>35%</a:t>
            </a:r>
          </a:p>
        </p:txBody>
      </p:sp>
      <p:sp>
        <p:nvSpPr>
          <p:cNvPr id="10" name="TextBox 9"/>
          <p:cNvSpPr txBox="1"/>
          <p:nvPr/>
        </p:nvSpPr>
        <p:spPr>
          <a:xfrm>
            <a:off x="5852160" y="5806440"/>
            <a:ext cx="5669280" cy="365760"/>
          </a:xfrm>
          <a:prstGeom prst="rect">
            <a:avLst/>
          </a:prstGeom>
          <a:noFill/>
        </p:spPr>
        <p:txBody>
          <a:bodyPr wrap="square" lIns="36576" rIns="36576" tIns="18288" bIns="18288" anchor="t">
            <a:spAutoFit/>
          </a:bodyPr>
          <a:lstStyle/>
          <a:p>
            <a:pPr algn="r"/>
            <a:r>
              <a:rPr sz="1200" b="0">
                <a:solidFill>
                  <a:srgbClr val="CBD5E1"/>
                </a:solidFill>
                <a:latin typeface="Calibri"/>
              </a:rPr>
              <a:t>production readiness · sustainability 46% · confidence high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274320"/>
          </a:xfrm>
          <a:prstGeom prst="rect">
            <a:avLst/>
          </a:prstGeom>
          <a:noFill/>
        </p:spPr>
        <p:txBody>
          <a:bodyPr wrap="square" lIns="36576" rIns="36576" tIns="18288" bIns="18288" anchor="t">
            <a:spAutoFit/>
          </a:bodyPr>
          <a:lstStyle/>
          <a:p>
            <a:pPr algn="l"/>
            <a:r>
              <a:rPr sz="1050" b="1">
                <a:solidFill>
                  <a:srgbClr val="4338CA"/>
                </a:solidFill>
                <a:latin typeface="Calibri"/>
              </a:rPr>
              <a:t>DECISION</a:t>
            </a:r>
          </a:p>
        </p:txBody>
      </p:sp>
      <p:sp>
        <p:nvSpPr>
          <p:cNvPr id="4" name="TextBox 3"/>
          <p:cNvSpPr txBox="1"/>
          <p:nvPr/>
        </p:nvSpPr>
        <p:spPr>
          <a:xfrm>
            <a:off x="548640" y="502920"/>
            <a:ext cx="10972800" cy="640080"/>
          </a:xfrm>
          <a:prstGeom prst="rect">
            <a:avLst/>
          </a:prstGeom>
          <a:noFill/>
        </p:spPr>
        <p:txBody>
          <a:bodyPr wrap="square" lIns="36576" rIns="36576" tIns="18288" bIns="18288" anchor="t">
            <a:spAutoFit/>
          </a:bodyPr>
          <a:lstStyle/>
          <a:p>
            <a:pPr algn="l"/>
            <a:r>
              <a:rPr sz="2600" b="1">
                <a:solidFill>
                  <a:srgbClr val="0F172A"/>
                </a:solidFill>
                <a:latin typeface="Calibri"/>
              </a:rPr>
              <a:t>Executive summary</a:t>
            </a:r>
          </a:p>
        </p:txBody>
      </p:sp>
      <p:sp>
        <p:nvSpPr>
          <p:cNvPr id="5" name="TextBox 4"/>
          <p:cNvSpPr txBox="1"/>
          <p:nvPr/>
        </p:nvSpPr>
        <p:spPr>
          <a:xfrm>
            <a:off x="548640" y="6473952"/>
            <a:ext cx="7315200" cy="274320"/>
          </a:xfrm>
          <a:prstGeom prst="rect">
            <a:avLst/>
          </a:prstGeom>
          <a:noFill/>
        </p:spPr>
        <p:txBody>
          <a:bodyPr wrap="square" lIns="36576" rIns="36576" tIns="18288" bIns="18288" anchor="t">
            <a:spAutoFit/>
          </a:bodyPr>
          <a:lstStyle/>
          <a:p>
            <a:pPr algn="l"/>
            <a:r>
              <a:rPr sz="900" b="0">
                <a:solidFill>
                  <a:srgbClr val="64748B"/>
                </a:solidFill>
                <a:latin typeface="Calibri"/>
              </a:rPr>
              <a:t>Assay · MCP production readiness audit — orders-mcp (sample) · 16 October 2026, 17:17 · Confidential</a:t>
            </a:r>
          </a:p>
        </p:txBody>
      </p:sp>
      <p:sp>
        <p:nvSpPr>
          <p:cNvPr id="6" name="TextBox 5"/>
          <p:cNvSpPr txBox="1"/>
          <p:nvPr/>
        </p:nvSpPr>
        <p:spPr>
          <a:xfrm>
            <a:off x="10911535" y="6473952"/>
            <a:ext cx="731520" cy="274320"/>
          </a:xfrm>
          <a:prstGeom prst="rect">
            <a:avLst/>
          </a:prstGeom>
          <a:noFill/>
        </p:spPr>
        <p:txBody>
          <a:bodyPr wrap="square" lIns="36576" rIns="36576" tIns="18288" bIns="18288" anchor="t">
            <a:spAutoFit/>
          </a:bodyPr>
          <a:lstStyle/>
          <a:p>
            <a:pPr algn="r"/>
            <a:r>
              <a:rPr sz="900" b="0">
                <a:solidFill>
                  <a:srgbClr val="64748B"/>
                </a:solidFill>
                <a:latin typeface="Calibri"/>
              </a:rPr>
              <a:t>2</a:t>
            </a:r>
          </a:p>
        </p:txBody>
      </p:sp>
      <p:graphicFrame>
        <p:nvGraphicFramePr>
          <p:cNvPr id="7" name="Chart 6"/>
          <p:cNvGraphicFramePr>
            <a:graphicFrameLocks noGrp="1"/>
          </p:cNvGraphicFramePr>
          <p:nvPr/>
        </p:nvGraphicFramePr>
        <p:xfrm>
          <a:off x="548640" y="1325880"/>
          <a:ext cx="2377440" cy="2377440"/>
        </p:xfrm>
        <a:graphic>
          <a:graphicData uri="http://schemas.openxmlformats.org/drawingml/2006/chart">
            <c:chart xmlns:c="http://schemas.openxmlformats.org/drawingml/2006/chart" r:id="rId2"/>
          </a:graphicData>
        </a:graphic>
      </p:graphicFrame>
      <p:sp>
        <p:nvSpPr>
          <p:cNvPr id="8" name="TextBox 7"/>
          <p:cNvSpPr txBox="1"/>
          <p:nvPr/>
        </p:nvSpPr>
        <p:spPr>
          <a:xfrm>
            <a:off x="548640" y="2130552"/>
            <a:ext cx="2377440" cy="502920"/>
          </a:xfrm>
          <a:prstGeom prst="rect">
            <a:avLst/>
          </a:prstGeom>
          <a:noFill/>
        </p:spPr>
        <p:txBody>
          <a:bodyPr wrap="square" lIns="36576" rIns="36576" tIns="18288" bIns="18288" anchor="t">
            <a:spAutoFit/>
          </a:bodyPr>
          <a:lstStyle/>
          <a:p>
            <a:pPr algn="ctr"/>
            <a:r>
              <a:rPr sz="3000" b="1">
                <a:solidFill>
                  <a:srgbClr val="0F172A"/>
                </a:solidFill>
                <a:latin typeface="Calibri"/>
              </a:rPr>
              <a:t>35%</a:t>
            </a:r>
          </a:p>
        </p:txBody>
      </p:sp>
      <p:sp>
        <p:nvSpPr>
          <p:cNvPr id="9" name="TextBox 8"/>
          <p:cNvSpPr txBox="1"/>
          <p:nvPr/>
        </p:nvSpPr>
        <p:spPr>
          <a:xfrm>
            <a:off x="548640" y="2624328"/>
            <a:ext cx="2377440" cy="274320"/>
          </a:xfrm>
          <a:prstGeom prst="rect">
            <a:avLst/>
          </a:prstGeom>
          <a:noFill/>
        </p:spPr>
        <p:txBody>
          <a:bodyPr wrap="square" lIns="36576" rIns="36576" tIns="18288" bIns="18288" anchor="t">
            <a:spAutoFit/>
          </a:bodyPr>
          <a:lstStyle/>
          <a:p>
            <a:pPr algn="ctr"/>
            <a:r>
              <a:rPr sz="1050" b="0">
                <a:solidFill>
                  <a:srgbClr val="64748B"/>
                </a:solidFill>
                <a:latin typeface="Calibri"/>
              </a:rPr>
              <a:t>production readiness</a:t>
            </a:r>
          </a:p>
        </p:txBody>
      </p:sp>
      <p:graphicFrame>
        <p:nvGraphicFramePr>
          <p:cNvPr id="10" name="Chart 9"/>
          <p:cNvGraphicFramePr>
            <a:graphicFrameLocks noGrp="1"/>
          </p:cNvGraphicFramePr>
          <p:nvPr/>
        </p:nvGraphicFramePr>
        <p:xfrm>
          <a:off x="3017520" y="1325880"/>
          <a:ext cx="2377440" cy="2377440"/>
        </p:xfrm>
        <a:graphic>
          <a:graphicData uri="http://schemas.openxmlformats.org/drawingml/2006/chart">
            <c:chart xmlns:c="http://schemas.openxmlformats.org/drawingml/2006/chart" r:id="rId3"/>
          </a:graphicData>
        </a:graphic>
      </p:graphicFrame>
      <p:sp>
        <p:nvSpPr>
          <p:cNvPr id="11" name="TextBox 10"/>
          <p:cNvSpPr txBox="1"/>
          <p:nvPr/>
        </p:nvSpPr>
        <p:spPr>
          <a:xfrm>
            <a:off x="3017520" y="2130552"/>
            <a:ext cx="2377440" cy="502920"/>
          </a:xfrm>
          <a:prstGeom prst="rect">
            <a:avLst/>
          </a:prstGeom>
          <a:noFill/>
        </p:spPr>
        <p:txBody>
          <a:bodyPr wrap="square" lIns="36576" rIns="36576" tIns="18288" bIns="18288" anchor="t">
            <a:spAutoFit/>
          </a:bodyPr>
          <a:lstStyle/>
          <a:p>
            <a:pPr algn="ctr"/>
            <a:r>
              <a:rPr sz="3000" b="1">
                <a:solidFill>
                  <a:srgbClr val="0F172A"/>
                </a:solidFill>
                <a:latin typeface="Calibri"/>
              </a:rPr>
              <a:t>46%</a:t>
            </a:r>
          </a:p>
        </p:txBody>
      </p:sp>
      <p:sp>
        <p:nvSpPr>
          <p:cNvPr id="12" name="TextBox 11"/>
          <p:cNvSpPr txBox="1"/>
          <p:nvPr/>
        </p:nvSpPr>
        <p:spPr>
          <a:xfrm>
            <a:off x="3017520" y="2624328"/>
            <a:ext cx="2377440" cy="274320"/>
          </a:xfrm>
          <a:prstGeom prst="rect">
            <a:avLst/>
          </a:prstGeom>
          <a:noFill/>
        </p:spPr>
        <p:txBody>
          <a:bodyPr wrap="square" lIns="36576" rIns="36576" tIns="18288" bIns="18288" anchor="t">
            <a:spAutoFit/>
          </a:bodyPr>
          <a:lstStyle/>
          <a:p>
            <a:pPr algn="ctr"/>
            <a:r>
              <a:rPr sz="1050" b="0">
                <a:solidFill>
                  <a:srgbClr val="64748B"/>
                </a:solidFill>
                <a:latin typeface="Calibri"/>
              </a:rPr>
              <a:t>sustainability</a:t>
            </a:r>
          </a:p>
        </p:txBody>
      </p:sp>
      <p:sp>
        <p:nvSpPr>
          <p:cNvPr id="13" name="Rounded Rectangle 12"/>
          <p:cNvSpPr/>
          <p:nvPr/>
        </p:nvSpPr>
        <p:spPr>
          <a:xfrm>
            <a:off x="685800" y="3886200"/>
            <a:ext cx="4572000" cy="457200"/>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rPr>
              <a:t>NO-GO</a:t>
            </a:r>
          </a:p>
        </p:txBody>
      </p:sp>
      <p:sp>
        <p:nvSpPr>
          <p:cNvPr id="14" name="TextBox 13"/>
          <p:cNvSpPr txBox="1"/>
          <p:nvPr/>
        </p:nvSpPr>
        <p:spPr>
          <a:xfrm>
            <a:off x="685800" y="4434840"/>
            <a:ext cx="4572000" cy="320040"/>
          </a:xfrm>
          <a:prstGeom prst="rect">
            <a:avLst/>
          </a:prstGeom>
          <a:noFill/>
        </p:spPr>
        <p:txBody>
          <a:bodyPr wrap="square" lIns="36576" rIns="36576" tIns="18288" bIns="18288" anchor="t">
            <a:spAutoFit/>
          </a:bodyPr>
          <a:lstStyle/>
          <a:p>
            <a:pPr algn="ctr"/>
            <a:r>
              <a:rPr sz="1200" b="0">
                <a:solidFill>
                  <a:srgbClr val="64748B"/>
                </a:solidFill>
                <a:latin typeface="Calibri"/>
              </a:rPr>
              <a:t>Confidence: high</a:t>
            </a:r>
          </a:p>
        </p:txBody>
      </p:sp>
      <p:sp>
        <p:nvSpPr>
          <p:cNvPr id="15" name="Rounded Rectangle 14"/>
          <p:cNvSpPr/>
          <p:nvPr/>
        </p:nvSpPr>
        <p:spPr>
          <a:xfrm>
            <a:off x="685800" y="4983480"/>
            <a:ext cx="1051560" cy="960120"/>
          </a:xfrm>
          <a:prstGeom prst="roundRect">
            <a:avLst>
              <a:gd name="adj" fmla="val 10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029200"/>
            <a:ext cx="1051560" cy="502920"/>
          </a:xfrm>
          <a:prstGeom prst="rect">
            <a:avLst/>
          </a:prstGeom>
          <a:noFill/>
        </p:spPr>
        <p:txBody>
          <a:bodyPr wrap="square" lIns="36576" rIns="36576" tIns="18288" bIns="18288" anchor="t">
            <a:spAutoFit/>
          </a:bodyPr>
          <a:lstStyle/>
          <a:p>
            <a:pPr algn="ctr"/>
            <a:r>
              <a:rPr sz="2400" b="1">
                <a:solidFill>
                  <a:srgbClr val="B91C1C"/>
                </a:solidFill>
                <a:latin typeface="Calibri"/>
              </a:rPr>
              <a:t>5</a:t>
            </a:r>
          </a:p>
        </p:txBody>
      </p:sp>
      <p:sp>
        <p:nvSpPr>
          <p:cNvPr id="17" name="TextBox 16"/>
          <p:cNvSpPr txBox="1"/>
          <p:nvPr/>
        </p:nvSpPr>
        <p:spPr>
          <a:xfrm>
            <a:off x="685800" y="5559552"/>
            <a:ext cx="1051560" cy="274320"/>
          </a:xfrm>
          <a:prstGeom prst="rect">
            <a:avLst/>
          </a:prstGeom>
          <a:noFill/>
        </p:spPr>
        <p:txBody>
          <a:bodyPr wrap="square" lIns="36576" rIns="36576" tIns="18288" bIns="18288" anchor="t">
            <a:spAutoFit/>
          </a:bodyPr>
          <a:lstStyle/>
          <a:p>
            <a:pPr algn="ctr"/>
            <a:r>
              <a:rPr sz="1000" b="0">
                <a:solidFill>
                  <a:srgbClr val="64748B"/>
                </a:solidFill>
                <a:latin typeface="Calibri"/>
              </a:rPr>
              <a:t>Critical</a:t>
            </a:r>
          </a:p>
        </p:txBody>
      </p:sp>
      <p:sp>
        <p:nvSpPr>
          <p:cNvPr id="18" name="Rounded Rectangle 17"/>
          <p:cNvSpPr/>
          <p:nvPr/>
        </p:nvSpPr>
        <p:spPr>
          <a:xfrm>
            <a:off x="1847088" y="4983480"/>
            <a:ext cx="1051560" cy="960120"/>
          </a:xfrm>
          <a:prstGeom prst="roundRect">
            <a:avLst>
              <a:gd name="adj" fmla="val 10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47088" y="5029200"/>
            <a:ext cx="1051560" cy="502920"/>
          </a:xfrm>
          <a:prstGeom prst="rect">
            <a:avLst/>
          </a:prstGeom>
          <a:noFill/>
        </p:spPr>
        <p:txBody>
          <a:bodyPr wrap="square" lIns="36576" rIns="36576" tIns="18288" bIns="18288" anchor="t">
            <a:spAutoFit/>
          </a:bodyPr>
          <a:lstStyle/>
          <a:p>
            <a:pPr algn="ctr"/>
            <a:r>
              <a:rPr sz="2400" b="1">
                <a:solidFill>
                  <a:srgbClr val="EA580C"/>
                </a:solidFill>
                <a:latin typeface="Calibri"/>
              </a:rPr>
              <a:t>18</a:t>
            </a:r>
          </a:p>
        </p:txBody>
      </p:sp>
      <p:sp>
        <p:nvSpPr>
          <p:cNvPr id="20" name="TextBox 19"/>
          <p:cNvSpPr txBox="1"/>
          <p:nvPr/>
        </p:nvSpPr>
        <p:spPr>
          <a:xfrm>
            <a:off x="1847088" y="5559552"/>
            <a:ext cx="1051560" cy="274320"/>
          </a:xfrm>
          <a:prstGeom prst="rect">
            <a:avLst/>
          </a:prstGeom>
          <a:noFill/>
        </p:spPr>
        <p:txBody>
          <a:bodyPr wrap="square" lIns="36576" rIns="36576" tIns="18288" bIns="18288" anchor="t">
            <a:spAutoFit/>
          </a:bodyPr>
          <a:lstStyle/>
          <a:p>
            <a:pPr algn="ctr"/>
            <a:r>
              <a:rPr sz="1000" b="0">
                <a:solidFill>
                  <a:srgbClr val="64748B"/>
                </a:solidFill>
                <a:latin typeface="Calibri"/>
              </a:rPr>
              <a:t>High</a:t>
            </a:r>
          </a:p>
        </p:txBody>
      </p:sp>
      <p:sp>
        <p:nvSpPr>
          <p:cNvPr id="21" name="Rounded Rectangle 20"/>
          <p:cNvSpPr/>
          <p:nvPr/>
        </p:nvSpPr>
        <p:spPr>
          <a:xfrm>
            <a:off x="3008376" y="4983480"/>
            <a:ext cx="1051560" cy="960120"/>
          </a:xfrm>
          <a:prstGeom prst="roundRect">
            <a:avLst>
              <a:gd name="adj" fmla="val 10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08376" y="5029200"/>
            <a:ext cx="1051560" cy="502920"/>
          </a:xfrm>
          <a:prstGeom prst="rect">
            <a:avLst/>
          </a:prstGeom>
          <a:noFill/>
        </p:spPr>
        <p:txBody>
          <a:bodyPr wrap="square" lIns="36576" rIns="36576" tIns="18288" bIns="18288" anchor="t">
            <a:spAutoFit/>
          </a:bodyPr>
          <a:lstStyle/>
          <a:p>
            <a:pPr algn="ctr"/>
            <a:r>
              <a:rPr sz="2400" b="1">
                <a:solidFill>
                  <a:srgbClr val="D97706"/>
                </a:solidFill>
                <a:latin typeface="Calibri"/>
              </a:rPr>
              <a:t>24</a:t>
            </a:r>
          </a:p>
        </p:txBody>
      </p:sp>
      <p:sp>
        <p:nvSpPr>
          <p:cNvPr id="23" name="TextBox 22"/>
          <p:cNvSpPr txBox="1"/>
          <p:nvPr/>
        </p:nvSpPr>
        <p:spPr>
          <a:xfrm>
            <a:off x="3008376" y="5559552"/>
            <a:ext cx="1051560" cy="274320"/>
          </a:xfrm>
          <a:prstGeom prst="rect">
            <a:avLst/>
          </a:prstGeom>
          <a:noFill/>
        </p:spPr>
        <p:txBody>
          <a:bodyPr wrap="square" lIns="36576" rIns="36576" tIns="18288" bIns="18288" anchor="t">
            <a:spAutoFit/>
          </a:bodyPr>
          <a:lstStyle/>
          <a:p>
            <a:pPr algn="ctr"/>
            <a:r>
              <a:rPr sz="1000" b="0">
                <a:solidFill>
                  <a:srgbClr val="64748B"/>
                </a:solidFill>
                <a:latin typeface="Calibri"/>
              </a:rPr>
              <a:t>Medium</a:t>
            </a:r>
          </a:p>
        </p:txBody>
      </p:sp>
      <p:sp>
        <p:nvSpPr>
          <p:cNvPr id="24" name="Rounded Rectangle 23"/>
          <p:cNvSpPr/>
          <p:nvPr/>
        </p:nvSpPr>
        <p:spPr>
          <a:xfrm>
            <a:off x="4169664" y="4983480"/>
            <a:ext cx="1051560" cy="960120"/>
          </a:xfrm>
          <a:prstGeom prst="roundRect">
            <a:avLst>
              <a:gd name="adj" fmla="val 10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69664" y="5029200"/>
            <a:ext cx="1051560" cy="502920"/>
          </a:xfrm>
          <a:prstGeom prst="rect">
            <a:avLst/>
          </a:prstGeom>
          <a:noFill/>
        </p:spPr>
        <p:txBody>
          <a:bodyPr wrap="square" lIns="36576" rIns="36576" tIns="18288" bIns="18288" anchor="t">
            <a:spAutoFit/>
          </a:bodyPr>
          <a:lstStyle/>
          <a:p>
            <a:pPr algn="ctr"/>
            <a:r>
              <a:rPr sz="2400" b="1">
                <a:solidFill>
                  <a:srgbClr val="4338CA"/>
                </a:solidFill>
                <a:latin typeface="Calibri"/>
              </a:rPr>
              <a:t>8</a:t>
            </a:r>
          </a:p>
        </p:txBody>
      </p:sp>
      <p:sp>
        <p:nvSpPr>
          <p:cNvPr id="26" name="TextBox 25"/>
          <p:cNvSpPr txBox="1"/>
          <p:nvPr/>
        </p:nvSpPr>
        <p:spPr>
          <a:xfrm>
            <a:off x="4169664" y="5559552"/>
            <a:ext cx="1051560" cy="274320"/>
          </a:xfrm>
          <a:prstGeom prst="rect">
            <a:avLst/>
          </a:prstGeom>
          <a:noFill/>
        </p:spPr>
        <p:txBody>
          <a:bodyPr wrap="square" lIns="36576" rIns="36576" tIns="18288" bIns="18288" anchor="t">
            <a:spAutoFit/>
          </a:bodyPr>
          <a:lstStyle/>
          <a:p>
            <a:pPr algn="ctr"/>
            <a:r>
              <a:rPr sz="1000" b="0">
                <a:solidFill>
                  <a:srgbClr val="64748B"/>
                </a:solidFill>
                <a:latin typeface="Calibri"/>
              </a:rPr>
              <a:t>Tools</a:t>
            </a:r>
          </a:p>
        </p:txBody>
      </p:sp>
      <p:sp>
        <p:nvSpPr>
          <p:cNvPr id="27" name="TextBox 26"/>
          <p:cNvSpPr txBox="1"/>
          <p:nvPr/>
        </p:nvSpPr>
        <p:spPr>
          <a:xfrm>
            <a:off x="5852160" y="1325880"/>
            <a:ext cx="5852160" cy="4480560"/>
          </a:xfrm>
          <a:prstGeom prst="rect">
            <a:avLst/>
          </a:prstGeom>
          <a:noFill/>
        </p:spPr>
        <p:txBody>
          <a:bodyPr wrap="square" lIns="36576" rIns="36576" tIns="18288" bIns="18288" anchor="t">
            <a:spAutoFit/>
          </a:bodyPr>
          <a:lstStyle/>
          <a:p>
            <a:pPr algn="l"/>
            <a:r>
              <a:rPr sz="1300" b="0">
                <a:solidFill>
                  <a:srgbClr val="0F172A"/>
                </a:solidFill>
                <a:latin typeface="Calibri"/>
              </a:rPr>
              <a:t>The orders-mcp project has been assessed at 35% readiness, leading to a no-go decision. The primary risks include critical vulnerabilities such as hard-coded secrets, tool poisoning, and remote transport without authentication. Before go-live, immediate action is required to address these critical issues. The sustainability outlook is cautiously optimistic at 46%, with room for improvement in security and…</a:t>
            </a:r>
          </a:p>
        </p:txBody>
      </p:sp>
      <p:sp>
        <p:nvSpPr>
          <p:cNvPr id="28" name="TextBox 27"/>
          <p:cNvSpPr txBox="1"/>
          <p:nvPr/>
        </p:nvSpPr>
        <p:spPr>
          <a:xfrm>
            <a:off x="5852160" y="5760720"/>
            <a:ext cx="5852160" cy="548640"/>
          </a:xfrm>
          <a:prstGeom prst="rect">
            <a:avLst/>
          </a:prstGeom>
          <a:noFill/>
        </p:spPr>
        <p:txBody>
          <a:bodyPr wrap="square" lIns="36576" rIns="36576" tIns="18288" bIns="18288" anchor="t">
            <a:spAutoFit/>
          </a:bodyPr>
          <a:lstStyle/>
          <a:p>
            <a:pPr algn="l"/>
            <a:r>
              <a:rPr sz="1000" b="0">
                <a:solidFill>
                  <a:srgbClr val="64748B"/>
                </a:solidFill>
                <a:latin typeface="Calibri"/>
              </a:rPr>
              <a:t>Gates: Capped at 35%: 5 open critical finding(s) (MCP-001, MCP-003, SEC-001, SEC-002, SEC-007).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274320"/>
          </a:xfrm>
          <a:prstGeom prst="rect">
            <a:avLst/>
          </a:prstGeom>
          <a:noFill/>
        </p:spPr>
        <p:txBody>
          <a:bodyPr wrap="square" lIns="36576" rIns="36576" tIns="18288" bIns="18288" anchor="t">
            <a:spAutoFit/>
          </a:bodyPr>
          <a:lstStyle/>
          <a:p>
            <a:pPr algn="l"/>
            <a:r>
              <a:rPr sz="1050" b="1">
                <a:solidFill>
                  <a:srgbClr val="4338CA"/>
                </a:solidFill>
                <a:latin typeface="Calibri"/>
              </a:rPr>
              <a:t>ASSESSMENT</a:t>
            </a:r>
          </a:p>
        </p:txBody>
      </p:sp>
      <p:sp>
        <p:nvSpPr>
          <p:cNvPr id="4" name="TextBox 3"/>
          <p:cNvSpPr txBox="1"/>
          <p:nvPr/>
        </p:nvSpPr>
        <p:spPr>
          <a:xfrm>
            <a:off x="548640" y="502920"/>
            <a:ext cx="10972800" cy="640080"/>
          </a:xfrm>
          <a:prstGeom prst="rect">
            <a:avLst/>
          </a:prstGeom>
          <a:noFill/>
        </p:spPr>
        <p:txBody>
          <a:bodyPr wrap="square" lIns="36576" rIns="36576" tIns="18288" bIns="18288" anchor="t">
            <a:spAutoFit/>
          </a:bodyPr>
          <a:lstStyle/>
          <a:p>
            <a:pPr algn="l"/>
            <a:r>
              <a:rPr sz="2600" b="1">
                <a:solidFill>
                  <a:srgbClr val="0F172A"/>
                </a:solidFill>
                <a:latin typeface="Calibri"/>
              </a:rPr>
              <a:t>Scorecard by dimension</a:t>
            </a:r>
          </a:p>
        </p:txBody>
      </p:sp>
      <p:sp>
        <p:nvSpPr>
          <p:cNvPr id="5" name="TextBox 4"/>
          <p:cNvSpPr txBox="1"/>
          <p:nvPr/>
        </p:nvSpPr>
        <p:spPr>
          <a:xfrm>
            <a:off x="548640" y="6473952"/>
            <a:ext cx="7315200" cy="274320"/>
          </a:xfrm>
          <a:prstGeom prst="rect">
            <a:avLst/>
          </a:prstGeom>
          <a:noFill/>
        </p:spPr>
        <p:txBody>
          <a:bodyPr wrap="square" lIns="36576" rIns="36576" tIns="18288" bIns="18288" anchor="t">
            <a:spAutoFit/>
          </a:bodyPr>
          <a:lstStyle/>
          <a:p>
            <a:pPr algn="l"/>
            <a:r>
              <a:rPr sz="900" b="0">
                <a:solidFill>
                  <a:srgbClr val="64748B"/>
                </a:solidFill>
                <a:latin typeface="Calibri"/>
              </a:rPr>
              <a:t>Assay · MCP production readiness audit — orders-mcp (sample) · 16 October 2026, 17:17 · Confidential</a:t>
            </a:r>
          </a:p>
        </p:txBody>
      </p:sp>
      <p:sp>
        <p:nvSpPr>
          <p:cNvPr id="6" name="TextBox 5"/>
          <p:cNvSpPr txBox="1"/>
          <p:nvPr/>
        </p:nvSpPr>
        <p:spPr>
          <a:xfrm>
            <a:off x="10911535" y="6473952"/>
            <a:ext cx="731520" cy="274320"/>
          </a:xfrm>
          <a:prstGeom prst="rect">
            <a:avLst/>
          </a:prstGeom>
          <a:noFill/>
        </p:spPr>
        <p:txBody>
          <a:bodyPr wrap="square" lIns="36576" rIns="36576" tIns="18288" bIns="18288" anchor="t">
            <a:spAutoFit/>
          </a:bodyPr>
          <a:lstStyle/>
          <a:p>
            <a:pPr algn="r"/>
            <a:r>
              <a:rPr sz="900" b="0">
                <a:solidFill>
                  <a:srgbClr val="64748B"/>
                </a:solidFill>
                <a:latin typeface="Calibri"/>
              </a:rPr>
              <a:t>3</a:t>
            </a:r>
          </a:p>
        </p:txBody>
      </p:sp>
      <p:graphicFrame>
        <p:nvGraphicFramePr>
          <p:cNvPr id="7" name="Chart 6"/>
          <p:cNvGraphicFramePr>
            <a:graphicFrameLocks noGrp="1"/>
          </p:cNvGraphicFramePr>
          <p:nvPr/>
        </p:nvGraphicFramePr>
        <p:xfrm>
          <a:off x="457200" y="1280160"/>
          <a:ext cx="6949440" cy="4846320"/>
        </p:xfrm>
        <a:graphic>
          <a:graphicData uri="http://schemas.openxmlformats.org/drawingml/2006/chart">
            <c:chart xmlns:c="http://schemas.openxmlformats.org/drawingml/2006/chart" r:id="rId2"/>
          </a:graphicData>
        </a:graphic>
      </p:graphicFrame>
      <p:sp>
        <p:nvSpPr>
          <p:cNvPr id="8" name="TextBox 7"/>
          <p:cNvSpPr txBox="1"/>
          <p:nvPr/>
        </p:nvSpPr>
        <p:spPr>
          <a:xfrm>
            <a:off x="7772400" y="1371600"/>
            <a:ext cx="3931920" cy="365760"/>
          </a:xfrm>
          <a:prstGeom prst="rect">
            <a:avLst/>
          </a:prstGeom>
          <a:noFill/>
        </p:spPr>
        <p:txBody>
          <a:bodyPr wrap="square" lIns="36576" rIns="36576" tIns="18288" bIns="18288" anchor="t">
            <a:spAutoFit/>
          </a:bodyPr>
          <a:lstStyle/>
          <a:p>
            <a:pPr algn="l"/>
            <a:r>
              <a:rPr sz="1400" b="1">
                <a:solidFill>
                  <a:srgbClr val="0F172A"/>
                </a:solidFill>
                <a:latin typeface="Calibri"/>
              </a:rPr>
              <a:t>How to read</a:t>
            </a:r>
          </a:p>
        </p:txBody>
      </p:sp>
      <p:sp>
        <p:nvSpPr>
          <p:cNvPr id="9" name="TextBox 8"/>
          <p:cNvSpPr txBox="1"/>
          <p:nvPr/>
        </p:nvSpPr>
        <p:spPr>
          <a:xfrm>
            <a:off x="7772400" y="1783080"/>
            <a:ext cx="3931920" cy="2926080"/>
          </a:xfrm>
          <a:prstGeom prst="rect">
            <a:avLst/>
          </a:prstGeom>
          <a:noFill/>
        </p:spPr>
        <p:txBody>
          <a:bodyPr wrap="square">
            <a:spAutoFit/>
          </a:bodyPr>
          <a:lstStyle/>
          <a:p>
            <a:pPr>
              <a:spcAft>
                <a:spcPts val="400"/>
              </a:spcAft>
            </a:pPr>
            <a:r>
              <a:rPr sz="1150">
                <a:solidFill>
                  <a:srgbClr val="64748B"/>
                </a:solidFill>
                <a:latin typeface="Calibri"/>
              </a:rPr>
              <a:t>•  Each score starts at 100 and decreases with open findings, weighted by severity and confidence.</a:t>
            </a:r>
          </a:p>
          <a:p>
            <a:pPr>
              <a:spcAft>
                <a:spcPts val="400"/>
              </a:spcAft>
            </a:pPr>
            <a:r>
              <a:rPr sz="1150">
                <a:solidFill>
                  <a:srgbClr val="64748B"/>
                </a:solidFill>
                <a:latin typeface="Calibri"/>
              </a:rPr>
              <a:t>•  Readiness is the weighted mean (security 35 %) capped by gates.</a:t>
            </a:r>
          </a:p>
          <a:p>
            <a:pPr>
              <a:spcAft>
                <a:spcPts val="400"/>
              </a:spcAft>
            </a:pPr>
            <a:r>
              <a:rPr sz="1150">
                <a:solidFill>
                  <a:srgbClr val="64748B"/>
                </a:solidFill>
                <a:latin typeface="Calibri"/>
              </a:rPr>
              <a:t>•  Raw weighted score: 42% → readiness 35%.</a:t>
            </a:r>
          </a:p>
          <a:p>
            <a:pPr>
              <a:spcAft>
                <a:spcPts val="400"/>
              </a:spcAft>
            </a:pPr>
            <a:r>
              <a:rPr sz="1150">
                <a:solidFill>
                  <a:srgbClr val="64748B"/>
                </a:solidFill>
                <a:latin typeface="Calibri"/>
              </a:rPr>
              <a:t>•  ≥80 Go · 65–79 Conditions · 45–64 Not ready · &lt;45 No-go.</a:t>
            </a:r>
          </a:p>
        </p:txBody>
      </p:sp>
      <p:sp>
        <p:nvSpPr>
          <p:cNvPr id="10" name="Rounded Rectangle 9"/>
          <p:cNvSpPr/>
          <p:nvPr/>
        </p:nvSpPr>
        <p:spPr>
          <a:xfrm>
            <a:off x="7772400" y="4343400"/>
            <a:ext cx="3931920" cy="1737360"/>
          </a:xfrm>
          <a:prstGeom prst="roundRect">
            <a:avLst>
              <a:gd name="adj" fmla="val 6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09560" y="4434840"/>
            <a:ext cx="3657600" cy="1554480"/>
          </a:xfrm>
          <a:prstGeom prst="rect">
            <a:avLst/>
          </a:prstGeom>
          <a:noFill/>
        </p:spPr>
        <p:txBody>
          <a:bodyPr wrap="square" lIns="36576" rIns="36576" tIns="18288" bIns="18288" anchor="t">
            <a:spAutoFit/>
          </a:bodyPr>
          <a:lstStyle/>
          <a:p>
            <a:pPr algn="l"/>
            <a:r>
              <a:rPr sz="1100" b="0">
                <a:solidFill>
                  <a:srgbClr val="991B1B"/>
                </a:solidFill>
                <a:latin typeface="Calibri"/>
              </a:rPr>
              <a:t>Gates applied</a:t>
            </a:r>
          </a:p>
          <a:p>
            <a:pPr algn="l"/>
            <a:r>
              <a:rPr sz="1100" b="0">
                <a:solidFill>
                  <a:srgbClr val="991B1B"/>
                </a:solidFill>
                <a:latin typeface="Calibri"/>
              </a:rPr>
              <a:t>Capped at 35%: 5 open critical finding(s) (MCP-001, MCP-003, SEC-001, SEC-002, SEC-007).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274320"/>
          </a:xfrm>
          <a:prstGeom prst="rect">
            <a:avLst/>
          </a:prstGeom>
          <a:noFill/>
        </p:spPr>
        <p:txBody>
          <a:bodyPr wrap="square" lIns="36576" rIns="36576" tIns="18288" bIns="18288" anchor="t">
            <a:spAutoFit/>
          </a:bodyPr>
          <a:lstStyle/>
          <a:p>
            <a:pPr algn="l"/>
            <a:r>
              <a:rPr sz="1050" b="1">
                <a:solidFill>
                  <a:srgbClr val="4338CA"/>
                </a:solidFill>
                <a:latin typeface="Calibri"/>
              </a:rPr>
              <a:t>RISK REGISTER</a:t>
            </a:r>
          </a:p>
        </p:txBody>
      </p:sp>
      <p:sp>
        <p:nvSpPr>
          <p:cNvPr id="4" name="TextBox 3"/>
          <p:cNvSpPr txBox="1"/>
          <p:nvPr/>
        </p:nvSpPr>
        <p:spPr>
          <a:xfrm>
            <a:off x="548640" y="502920"/>
            <a:ext cx="10972800" cy="640080"/>
          </a:xfrm>
          <a:prstGeom prst="rect">
            <a:avLst/>
          </a:prstGeom>
          <a:noFill/>
        </p:spPr>
        <p:txBody>
          <a:bodyPr wrap="square" lIns="36576" rIns="36576" tIns="18288" bIns="18288" anchor="t">
            <a:spAutoFit/>
          </a:bodyPr>
          <a:lstStyle/>
          <a:p>
            <a:pPr algn="l"/>
            <a:r>
              <a:rPr sz="2600" b="1">
                <a:solidFill>
                  <a:srgbClr val="0F172A"/>
                </a:solidFill>
                <a:latin typeface="Calibri"/>
              </a:rPr>
              <a:t>Key risks</a:t>
            </a:r>
          </a:p>
        </p:txBody>
      </p:sp>
      <p:sp>
        <p:nvSpPr>
          <p:cNvPr id="5" name="TextBox 4"/>
          <p:cNvSpPr txBox="1"/>
          <p:nvPr/>
        </p:nvSpPr>
        <p:spPr>
          <a:xfrm>
            <a:off x="548640" y="6473952"/>
            <a:ext cx="7315200" cy="274320"/>
          </a:xfrm>
          <a:prstGeom prst="rect">
            <a:avLst/>
          </a:prstGeom>
          <a:noFill/>
        </p:spPr>
        <p:txBody>
          <a:bodyPr wrap="square" lIns="36576" rIns="36576" tIns="18288" bIns="18288" anchor="t">
            <a:spAutoFit/>
          </a:bodyPr>
          <a:lstStyle/>
          <a:p>
            <a:pPr algn="l"/>
            <a:r>
              <a:rPr sz="900" b="0">
                <a:solidFill>
                  <a:srgbClr val="64748B"/>
                </a:solidFill>
                <a:latin typeface="Calibri"/>
              </a:rPr>
              <a:t>Assay · MCP production readiness audit — orders-mcp (sample) · 16 October 2026, 17:17 · Confidential</a:t>
            </a:r>
          </a:p>
        </p:txBody>
      </p:sp>
      <p:sp>
        <p:nvSpPr>
          <p:cNvPr id="6" name="TextBox 5"/>
          <p:cNvSpPr txBox="1"/>
          <p:nvPr/>
        </p:nvSpPr>
        <p:spPr>
          <a:xfrm>
            <a:off x="10911535" y="6473952"/>
            <a:ext cx="731520" cy="274320"/>
          </a:xfrm>
          <a:prstGeom prst="rect">
            <a:avLst/>
          </a:prstGeom>
          <a:noFill/>
        </p:spPr>
        <p:txBody>
          <a:bodyPr wrap="square" lIns="36576" rIns="36576" tIns="18288" bIns="18288" anchor="t">
            <a:spAutoFit/>
          </a:bodyPr>
          <a:lstStyle/>
          <a:p>
            <a:pPr algn="r"/>
            <a:r>
              <a:rPr sz="900" b="0">
                <a:solidFill>
                  <a:srgbClr val="64748B"/>
                </a:solidFill>
                <a:latin typeface="Calibri"/>
              </a:rPr>
              <a:t>4</a:t>
            </a:r>
          </a:p>
        </p:txBody>
      </p:sp>
      <p:sp>
        <p:nvSpPr>
          <p:cNvPr id="7" name="Rounded Rectangle 6"/>
          <p:cNvSpPr/>
          <p:nvPr/>
        </p:nvSpPr>
        <p:spPr>
          <a:xfrm>
            <a:off x="548640" y="1325880"/>
            <a:ext cx="11064240" cy="621792"/>
          </a:xfrm>
          <a:prstGeom prst="roundRect">
            <a:avLst>
              <a:gd name="adj" fmla="val 8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508760"/>
            <a:ext cx="868680" cy="256032"/>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CRITICAL</a:t>
            </a:r>
          </a:p>
        </p:txBody>
      </p:sp>
      <p:sp>
        <p:nvSpPr>
          <p:cNvPr id="9" name="TextBox 8"/>
          <p:cNvSpPr txBox="1"/>
          <p:nvPr/>
        </p:nvSpPr>
        <p:spPr>
          <a:xfrm>
            <a:off x="1691640" y="1371600"/>
            <a:ext cx="6949440" cy="301752"/>
          </a:xfrm>
          <a:prstGeom prst="rect">
            <a:avLst/>
          </a:prstGeom>
          <a:noFill/>
        </p:spPr>
        <p:txBody>
          <a:bodyPr wrap="square" lIns="36576" rIns="36576" tIns="18288" bIns="18288" anchor="t">
            <a:spAutoFit/>
          </a:bodyPr>
          <a:lstStyle/>
          <a:p>
            <a:pPr algn="l"/>
            <a:r>
              <a:rPr sz="1350" b="1">
                <a:solidFill>
                  <a:srgbClr val="0F172A"/>
                </a:solidFill>
                <a:latin typeface="Calibri"/>
              </a:rPr>
              <a:t>Tool poisoning: hidden instructions in tool metadata</a:t>
            </a:r>
          </a:p>
        </p:txBody>
      </p:sp>
      <p:sp>
        <p:nvSpPr>
          <p:cNvPr id="10" name="TextBox 9"/>
          <p:cNvSpPr txBox="1"/>
          <p:nvPr/>
        </p:nvSpPr>
        <p:spPr>
          <a:xfrm>
            <a:off x="1691640" y="1655064"/>
            <a:ext cx="6949440" cy="274320"/>
          </a:xfrm>
          <a:prstGeom prst="rect">
            <a:avLst/>
          </a:prstGeom>
          <a:noFill/>
        </p:spPr>
        <p:txBody>
          <a:bodyPr wrap="square" lIns="36576" rIns="36576" tIns="18288" bIns="18288" anchor="t">
            <a:spAutoFit/>
          </a:bodyPr>
          <a:lstStyle/>
          <a:p>
            <a:pPr algn="l"/>
            <a:r>
              <a:rPr sz="1050" b="0">
                <a:solidFill>
                  <a:srgbClr val="64748B"/>
                </a:solidFill>
                <a:latin typeface="Calibri"/>
              </a:rPr>
              <a:t>Tool `fetch_url` metadata contains instruction-like content: “&lt;IMPORTANT&gt;”.</a:t>
            </a:r>
          </a:p>
        </p:txBody>
      </p:sp>
      <p:sp>
        <p:nvSpPr>
          <p:cNvPr id="11" name="TextBox 10"/>
          <p:cNvSpPr txBox="1"/>
          <p:nvPr/>
        </p:nvSpPr>
        <p:spPr>
          <a:xfrm>
            <a:off x="8778240" y="1399032"/>
            <a:ext cx="2743200" cy="502920"/>
          </a:xfrm>
          <a:prstGeom prst="rect">
            <a:avLst/>
          </a:prstGeom>
          <a:noFill/>
        </p:spPr>
        <p:txBody>
          <a:bodyPr wrap="square" lIns="36576" rIns="36576" tIns="18288" bIns="18288" anchor="t">
            <a:spAutoFit/>
          </a:bodyPr>
          <a:lstStyle/>
          <a:p>
            <a:pPr algn="r"/>
            <a:r>
              <a:rPr sz="1000" b="0">
                <a:solidFill>
                  <a:srgbClr val="64748B"/>
                </a:solidFill>
                <a:latin typeface="Calibri"/>
              </a:rPr>
              <a:t>server.py:25</a:t>
            </a:r>
          </a:p>
          <a:p>
            <a:pPr algn="r"/>
            <a:r>
              <a:rPr sz="1000" b="0">
                <a:solidFill>
                  <a:srgbClr val="64748B"/>
                </a:solidFill>
                <a:latin typeface="Calibri"/>
              </a:rPr>
              <a:t>tool fetch_url</a:t>
            </a:r>
          </a:p>
        </p:txBody>
      </p:sp>
      <p:sp>
        <p:nvSpPr>
          <p:cNvPr id="12" name="Rounded Rectangle 11"/>
          <p:cNvSpPr/>
          <p:nvPr/>
        </p:nvSpPr>
        <p:spPr>
          <a:xfrm>
            <a:off x="548640" y="2020824"/>
            <a:ext cx="11064240" cy="621792"/>
          </a:xfrm>
          <a:prstGeom prst="roundRect">
            <a:avLst>
              <a:gd name="adj" fmla="val 8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85800" y="2203704"/>
            <a:ext cx="868680" cy="256032"/>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CRITICAL</a:t>
            </a:r>
          </a:p>
        </p:txBody>
      </p:sp>
      <p:sp>
        <p:nvSpPr>
          <p:cNvPr id="14" name="TextBox 13"/>
          <p:cNvSpPr txBox="1"/>
          <p:nvPr/>
        </p:nvSpPr>
        <p:spPr>
          <a:xfrm>
            <a:off x="1691640" y="2066544"/>
            <a:ext cx="6949440" cy="301752"/>
          </a:xfrm>
          <a:prstGeom prst="rect">
            <a:avLst/>
          </a:prstGeom>
          <a:noFill/>
        </p:spPr>
        <p:txBody>
          <a:bodyPr wrap="square" lIns="36576" rIns="36576" tIns="18288" bIns="18288" anchor="t">
            <a:spAutoFit/>
          </a:bodyPr>
          <a:lstStyle/>
          <a:p>
            <a:pPr algn="l"/>
            <a:r>
              <a:rPr sz="1350" b="1">
                <a:solidFill>
                  <a:srgbClr val="0F172A"/>
                </a:solidFill>
                <a:latin typeface="Calibri"/>
              </a:rPr>
              <a:t>OS command injection</a:t>
            </a:r>
          </a:p>
        </p:txBody>
      </p:sp>
      <p:sp>
        <p:nvSpPr>
          <p:cNvPr id="15" name="TextBox 14"/>
          <p:cNvSpPr txBox="1"/>
          <p:nvPr/>
        </p:nvSpPr>
        <p:spPr>
          <a:xfrm>
            <a:off x="1691640" y="2350008"/>
            <a:ext cx="6949440" cy="274320"/>
          </a:xfrm>
          <a:prstGeom prst="rect">
            <a:avLst/>
          </a:prstGeom>
          <a:noFill/>
        </p:spPr>
        <p:txBody>
          <a:bodyPr wrap="square" lIns="36576" rIns="36576" tIns="18288" bIns="18288" anchor="t">
            <a:spAutoFit/>
          </a:bodyPr>
          <a:lstStyle/>
          <a:p>
            <a:pPr algn="l"/>
            <a:r>
              <a:rPr sz="1050" b="0">
                <a:solidFill>
                  <a:srgbClr val="64748B"/>
                </a:solidFill>
                <a:latin typeface="Calibri"/>
              </a:rPr>
              <a:t>`subprocess.check_output` runs a shell command built from non-constant data derived from tool input.</a:t>
            </a:r>
          </a:p>
        </p:txBody>
      </p:sp>
      <p:sp>
        <p:nvSpPr>
          <p:cNvPr id="16" name="TextBox 15"/>
          <p:cNvSpPr txBox="1"/>
          <p:nvPr/>
        </p:nvSpPr>
        <p:spPr>
          <a:xfrm>
            <a:off x="8778240" y="2093976"/>
            <a:ext cx="2743200" cy="502920"/>
          </a:xfrm>
          <a:prstGeom prst="rect">
            <a:avLst/>
          </a:prstGeom>
          <a:noFill/>
        </p:spPr>
        <p:txBody>
          <a:bodyPr wrap="square" lIns="36576" rIns="36576" tIns="18288" bIns="18288" anchor="t">
            <a:spAutoFit/>
          </a:bodyPr>
          <a:lstStyle/>
          <a:p>
            <a:pPr algn="r"/>
            <a:r>
              <a:rPr sz="1000" b="0">
                <a:solidFill>
                  <a:srgbClr val="64748B"/>
                </a:solidFill>
                <a:latin typeface="Calibri"/>
              </a:rPr>
              <a:t>server.py:21</a:t>
            </a:r>
          </a:p>
          <a:p>
            <a:pPr algn="r"/>
            <a:r>
              <a:rPr sz="1000" b="0">
                <a:solidFill>
                  <a:srgbClr val="64748B"/>
                </a:solidFill>
                <a:latin typeface="Calibri"/>
              </a:rPr>
              <a:t>tool run_command</a:t>
            </a:r>
          </a:p>
        </p:txBody>
      </p:sp>
      <p:sp>
        <p:nvSpPr>
          <p:cNvPr id="17" name="Rounded Rectangle 16"/>
          <p:cNvSpPr/>
          <p:nvPr/>
        </p:nvSpPr>
        <p:spPr>
          <a:xfrm>
            <a:off x="548640" y="2715768"/>
            <a:ext cx="11064240" cy="621792"/>
          </a:xfrm>
          <a:prstGeom prst="roundRect">
            <a:avLst>
              <a:gd name="adj" fmla="val 8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5800" y="2898648"/>
            <a:ext cx="868680" cy="256032"/>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CRITICAL</a:t>
            </a:r>
          </a:p>
        </p:txBody>
      </p:sp>
      <p:sp>
        <p:nvSpPr>
          <p:cNvPr id="19" name="TextBox 18"/>
          <p:cNvSpPr txBox="1"/>
          <p:nvPr/>
        </p:nvSpPr>
        <p:spPr>
          <a:xfrm>
            <a:off x="1691640" y="2761488"/>
            <a:ext cx="6949440" cy="301752"/>
          </a:xfrm>
          <a:prstGeom prst="rect">
            <a:avLst/>
          </a:prstGeom>
          <a:noFill/>
        </p:spPr>
        <p:txBody>
          <a:bodyPr wrap="square" lIns="36576" rIns="36576" tIns="18288" bIns="18288" anchor="t">
            <a:spAutoFit/>
          </a:bodyPr>
          <a:lstStyle/>
          <a:p>
            <a:pPr algn="l"/>
            <a:r>
              <a:rPr sz="1350" b="1">
                <a:solidFill>
                  <a:srgbClr val="0F172A"/>
                </a:solidFill>
                <a:latin typeface="Calibri"/>
              </a:rPr>
              <a:t>Dynamic code evaluation</a:t>
            </a:r>
          </a:p>
        </p:txBody>
      </p:sp>
      <p:sp>
        <p:nvSpPr>
          <p:cNvPr id="20" name="TextBox 19"/>
          <p:cNvSpPr txBox="1"/>
          <p:nvPr/>
        </p:nvSpPr>
        <p:spPr>
          <a:xfrm>
            <a:off x="1691640" y="3044952"/>
            <a:ext cx="6949440" cy="274320"/>
          </a:xfrm>
          <a:prstGeom prst="rect">
            <a:avLst/>
          </a:prstGeom>
          <a:noFill/>
        </p:spPr>
        <p:txBody>
          <a:bodyPr wrap="square" lIns="36576" rIns="36576" tIns="18288" bIns="18288" anchor="t">
            <a:spAutoFit/>
          </a:bodyPr>
          <a:lstStyle/>
          <a:p>
            <a:pPr algn="l"/>
            <a:r>
              <a:rPr sz="1050" b="0">
                <a:solidFill>
                  <a:srgbClr val="64748B"/>
                </a:solidFill>
                <a:latin typeface="Calibri"/>
              </a:rPr>
              <a:t>`eval()` on non-constant input from tool parameters.</a:t>
            </a:r>
          </a:p>
        </p:txBody>
      </p:sp>
      <p:sp>
        <p:nvSpPr>
          <p:cNvPr id="21" name="TextBox 20"/>
          <p:cNvSpPr txBox="1"/>
          <p:nvPr/>
        </p:nvSpPr>
        <p:spPr>
          <a:xfrm>
            <a:off x="8778240" y="2788920"/>
            <a:ext cx="2743200" cy="502920"/>
          </a:xfrm>
          <a:prstGeom prst="rect">
            <a:avLst/>
          </a:prstGeom>
          <a:noFill/>
        </p:spPr>
        <p:txBody>
          <a:bodyPr wrap="square" lIns="36576" rIns="36576" tIns="18288" bIns="18288" anchor="t">
            <a:spAutoFit/>
          </a:bodyPr>
          <a:lstStyle/>
          <a:p>
            <a:pPr algn="r"/>
            <a:r>
              <a:rPr sz="1000" b="0">
                <a:solidFill>
                  <a:srgbClr val="64748B"/>
                </a:solidFill>
                <a:latin typeface="Calibri"/>
              </a:rPr>
              <a:t>server.py:80</a:t>
            </a:r>
          </a:p>
          <a:p>
            <a:pPr algn="r"/>
            <a:r>
              <a:rPr sz="1000" b="0">
                <a:solidFill>
                  <a:srgbClr val="64748B"/>
                </a:solidFill>
                <a:latin typeface="Calibri"/>
              </a:rPr>
              <a:t>tool calc</a:t>
            </a:r>
          </a:p>
        </p:txBody>
      </p:sp>
      <p:sp>
        <p:nvSpPr>
          <p:cNvPr id="22" name="Rounded Rectangle 21"/>
          <p:cNvSpPr/>
          <p:nvPr/>
        </p:nvSpPr>
        <p:spPr>
          <a:xfrm>
            <a:off x="548640" y="3410712"/>
            <a:ext cx="11064240" cy="621792"/>
          </a:xfrm>
          <a:prstGeom prst="roundRect">
            <a:avLst>
              <a:gd name="adj" fmla="val 8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85800" y="3593592"/>
            <a:ext cx="868680" cy="256032"/>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CRITICAL</a:t>
            </a:r>
          </a:p>
        </p:txBody>
      </p:sp>
      <p:sp>
        <p:nvSpPr>
          <p:cNvPr id="24" name="TextBox 23"/>
          <p:cNvSpPr txBox="1"/>
          <p:nvPr/>
        </p:nvSpPr>
        <p:spPr>
          <a:xfrm>
            <a:off x="1691640" y="3456432"/>
            <a:ext cx="6949440" cy="301752"/>
          </a:xfrm>
          <a:prstGeom prst="rect">
            <a:avLst/>
          </a:prstGeom>
          <a:noFill/>
        </p:spPr>
        <p:txBody>
          <a:bodyPr wrap="square" lIns="36576" rIns="36576" tIns="18288" bIns="18288" anchor="t">
            <a:spAutoFit/>
          </a:bodyPr>
          <a:lstStyle/>
          <a:p>
            <a:pPr algn="l"/>
            <a:r>
              <a:rPr sz="1350" b="1">
                <a:solidFill>
                  <a:srgbClr val="0F172A"/>
                </a:solidFill>
                <a:latin typeface="Calibri"/>
              </a:rPr>
              <a:t>Hard-coded secret or credential</a:t>
            </a:r>
          </a:p>
        </p:txBody>
      </p:sp>
      <p:sp>
        <p:nvSpPr>
          <p:cNvPr id="25" name="TextBox 24"/>
          <p:cNvSpPr txBox="1"/>
          <p:nvPr/>
        </p:nvSpPr>
        <p:spPr>
          <a:xfrm>
            <a:off x="1691640" y="3739896"/>
            <a:ext cx="6949440" cy="274320"/>
          </a:xfrm>
          <a:prstGeom prst="rect">
            <a:avLst/>
          </a:prstGeom>
          <a:noFill/>
        </p:spPr>
        <p:txBody>
          <a:bodyPr wrap="square" lIns="36576" rIns="36576" tIns="18288" bIns="18288" anchor="t">
            <a:spAutoFit/>
          </a:bodyPr>
          <a:lstStyle/>
          <a:p>
            <a:pPr algn="l"/>
            <a:r>
              <a:rPr sz="1050" b="0">
                <a:solidFill>
                  <a:srgbClr val="64748B"/>
                </a:solidFill>
                <a:latin typeface="Calibri"/>
              </a:rPr>
              <a:t>LLM provider API key (OpenAI/Anthropic style).</a:t>
            </a:r>
          </a:p>
        </p:txBody>
      </p:sp>
      <p:sp>
        <p:nvSpPr>
          <p:cNvPr id="26" name="TextBox 25"/>
          <p:cNvSpPr txBox="1"/>
          <p:nvPr/>
        </p:nvSpPr>
        <p:spPr>
          <a:xfrm>
            <a:off x="8778240" y="3483864"/>
            <a:ext cx="2743200" cy="502920"/>
          </a:xfrm>
          <a:prstGeom prst="rect">
            <a:avLst/>
          </a:prstGeom>
          <a:noFill/>
        </p:spPr>
        <p:txBody>
          <a:bodyPr wrap="square" lIns="36576" rIns="36576" tIns="18288" bIns="18288" anchor="t">
            <a:spAutoFit/>
          </a:bodyPr>
          <a:lstStyle/>
          <a:p>
            <a:pPr algn="r"/>
            <a:r>
              <a:rPr sz="1000" b="0">
                <a:solidFill>
                  <a:srgbClr val="64748B"/>
                </a:solidFill>
                <a:latin typeface="Calibri"/>
              </a:rPr>
              <a:t>server.py:12</a:t>
            </a:r>
          </a:p>
          <a:p>
            <a:pPr algn="r"/>
            <a:r>
              <a:rPr sz="1000" b="0">
                <a:solidFill>
                  <a:srgbClr val="64748B"/>
                </a:solidFill>
                <a:latin typeface="Calibri"/>
              </a:rPr>
              <a:t>SEC-007</a:t>
            </a:r>
          </a:p>
        </p:txBody>
      </p:sp>
      <p:sp>
        <p:nvSpPr>
          <p:cNvPr id="27" name="Rounded Rectangle 26"/>
          <p:cNvSpPr/>
          <p:nvPr/>
        </p:nvSpPr>
        <p:spPr>
          <a:xfrm>
            <a:off x="548640" y="4105656"/>
            <a:ext cx="11064240" cy="621792"/>
          </a:xfrm>
          <a:prstGeom prst="roundRect">
            <a:avLst>
              <a:gd name="adj" fmla="val 8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85800" y="4288536"/>
            <a:ext cx="868680" cy="256032"/>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CRITICAL</a:t>
            </a:r>
          </a:p>
        </p:txBody>
      </p:sp>
      <p:sp>
        <p:nvSpPr>
          <p:cNvPr id="29" name="TextBox 28"/>
          <p:cNvSpPr txBox="1"/>
          <p:nvPr/>
        </p:nvSpPr>
        <p:spPr>
          <a:xfrm>
            <a:off x="1691640" y="4151376"/>
            <a:ext cx="6949440" cy="301752"/>
          </a:xfrm>
          <a:prstGeom prst="rect">
            <a:avLst/>
          </a:prstGeom>
          <a:noFill/>
        </p:spPr>
        <p:txBody>
          <a:bodyPr wrap="square" lIns="36576" rIns="36576" tIns="18288" bIns="18288" anchor="t">
            <a:spAutoFit/>
          </a:bodyPr>
          <a:lstStyle/>
          <a:p>
            <a:pPr algn="l"/>
            <a:r>
              <a:rPr sz="1350" b="1">
                <a:solidFill>
                  <a:srgbClr val="0F172A"/>
                </a:solidFill>
                <a:latin typeface="Calibri"/>
              </a:rPr>
              <a:t>Remote MCP transport without authentication</a:t>
            </a:r>
          </a:p>
        </p:txBody>
      </p:sp>
      <p:sp>
        <p:nvSpPr>
          <p:cNvPr id="30" name="TextBox 29"/>
          <p:cNvSpPr txBox="1"/>
          <p:nvPr/>
        </p:nvSpPr>
        <p:spPr>
          <a:xfrm>
            <a:off x="1691640" y="4434840"/>
            <a:ext cx="6949440" cy="274320"/>
          </a:xfrm>
          <a:prstGeom prst="rect">
            <a:avLst/>
          </a:prstGeom>
          <a:noFill/>
        </p:spPr>
        <p:txBody>
          <a:bodyPr wrap="square" lIns="36576" rIns="36576" tIns="18288" bIns="18288" anchor="t">
            <a:spAutoFit/>
          </a:bodyPr>
          <a:lstStyle/>
          <a:p>
            <a:pPr algn="l"/>
            <a:r>
              <a:rPr sz="1050" b="0">
                <a:solidFill>
                  <a:srgbClr val="64748B"/>
                </a:solidFill>
                <a:latin typeface="Calibri"/>
              </a:rPr>
              <a:t>Transport(s) streamable-http exposed and no authentication mechanism was found in code. If authentication is enforced by an API…</a:t>
            </a:r>
          </a:p>
        </p:txBody>
      </p:sp>
      <p:sp>
        <p:nvSpPr>
          <p:cNvPr id="31" name="TextBox 30"/>
          <p:cNvSpPr txBox="1"/>
          <p:nvPr/>
        </p:nvSpPr>
        <p:spPr>
          <a:xfrm>
            <a:off x="8778240" y="4178808"/>
            <a:ext cx="2743200" cy="502920"/>
          </a:xfrm>
          <a:prstGeom prst="rect">
            <a:avLst/>
          </a:prstGeom>
          <a:noFill/>
        </p:spPr>
        <p:txBody>
          <a:bodyPr wrap="square" lIns="36576" rIns="36576" tIns="18288" bIns="18288" anchor="t">
            <a:spAutoFit/>
          </a:bodyPr>
          <a:lstStyle/>
          <a:p>
            <a:pPr algn="r"/>
            <a:r>
              <a:rPr sz="1000" b="0">
                <a:solidFill>
                  <a:srgbClr val="64748B"/>
                </a:solidFill>
                <a:latin typeface="Calibri"/>
              </a:rPr>
              <a:t>server.py</a:t>
            </a:r>
          </a:p>
          <a:p>
            <a:pPr algn="r"/>
            <a:r>
              <a:rPr sz="1000" b="0">
                <a:solidFill>
                  <a:srgbClr val="64748B"/>
                </a:solidFill>
                <a:latin typeface="Calibri"/>
              </a:rPr>
              <a:t>MCP-001</a:t>
            </a:r>
          </a:p>
        </p:txBody>
      </p:sp>
      <p:sp>
        <p:nvSpPr>
          <p:cNvPr id="32" name="Rounded Rectangle 31"/>
          <p:cNvSpPr/>
          <p:nvPr/>
        </p:nvSpPr>
        <p:spPr>
          <a:xfrm>
            <a:off x="548640" y="4800600"/>
            <a:ext cx="11064240" cy="621792"/>
          </a:xfrm>
          <a:prstGeom prst="roundRect">
            <a:avLst>
              <a:gd name="adj" fmla="val 8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85800" y="4983480"/>
            <a:ext cx="868680" cy="256032"/>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HIGH</a:t>
            </a:r>
          </a:p>
        </p:txBody>
      </p:sp>
      <p:sp>
        <p:nvSpPr>
          <p:cNvPr id="34" name="TextBox 33"/>
          <p:cNvSpPr txBox="1"/>
          <p:nvPr/>
        </p:nvSpPr>
        <p:spPr>
          <a:xfrm>
            <a:off x="1691640" y="4846320"/>
            <a:ext cx="6949440" cy="301752"/>
          </a:xfrm>
          <a:prstGeom prst="rect">
            <a:avLst/>
          </a:prstGeom>
          <a:noFill/>
        </p:spPr>
        <p:txBody>
          <a:bodyPr wrap="square" lIns="36576" rIns="36576" tIns="18288" bIns="18288" anchor="t">
            <a:spAutoFit/>
          </a:bodyPr>
          <a:lstStyle/>
          <a:p>
            <a:pPr algn="l"/>
            <a:r>
              <a:rPr sz="1350" b="1">
                <a:solidFill>
                  <a:srgbClr val="0F172A"/>
                </a:solidFill>
                <a:latin typeface="Calibri"/>
              </a:rPr>
              <a:t>Blocking I/O</a:t>
            </a:r>
          </a:p>
        </p:txBody>
      </p:sp>
      <p:sp>
        <p:nvSpPr>
          <p:cNvPr id="35" name="TextBox 34"/>
          <p:cNvSpPr txBox="1"/>
          <p:nvPr/>
        </p:nvSpPr>
        <p:spPr>
          <a:xfrm>
            <a:off x="1691640" y="5129784"/>
            <a:ext cx="6949440" cy="274320"/>
          </a:xfrm>
          <a:prstGeom prst="rect">
            <a:avLst/>
          </a:prstGeom>
          <a:noFill/>
        </p:spPr>
        <p:txBody>
          <a:bodyPr wrap="square" lIns="36576" rIns="36576" tIns="18288" bIns="18288" anchor="t">
            <a:spAutoFit/>
          </a:bodyPr>
          <a:lstStyle/>
          <a:p>
            <a:pPr algn="l"/>
            <a:r>
              <a:rPr sz="1050" b="0">
                <a:solidFill>
                  <a:srgbClr val="64748B"/>
                </a:solidFill>
                <a:latin typeface="Calibri"/>
              </a:rPr>
              <a:t>The tool uses `time.sleep(1)` inside an async handler, which blocks the event loop and can stall the event loop for all…</a:t>
            </a:r>
          </a:p>
        </p:txBody>
      </p:sp>
      <p:sp>
        <p:nvSpPr>
          <p:cNvPr id="36" name="TextBox 35"/>
          <p:cNvSpPr txBox="1"/>
          <p:nvPr/>
        </p:nvSpPr>
        <p:spPr>
          <a:xfrm>
            <a:off x="8778240" y="4873752"/>
            <a:ext cx="2743200" cy="502920"/>
          </a:xfrm>
          <a:prstGeom prst="rect">
            <a:avLst/>
          </a:prstGeom>
          <a:noFill/>
        </p:spPr>
        <p:txBody>
          <a:bodyPr wrap="square" lIns="36576" rIns="36576" tIns="18288" bIns="18288" anchor="t">
            <a:spAutoFit/>
          </a:bodyPr>
          <a:lstStyle/>
          <a:p>
            <a:pPr algn="r"/>
            <a:r>
              <a:rPr sz="1000" b="0">
                <a:solidFill>
                  <a:srgbClr val="64748B"/>
                </a:solidFill>
                <a:latin typeface="Calibri"/>
              </a:rPr>
              <a:t>server.py:31</a:t>
            </a:r>
          </a:p>
          <a:p>
            <a:pPr algn="r"/>
            <a:r>
              <a:rPr sz="1000" b="0">
                <a:solidFill>
                  <a:srgbClr val="64748B"/>
                </a:solidFill>
                <a:latin typeface="Calibri"/>
              </a:rPr>
              <a:t>tool fetch_url</a:t>
            </a:r>
          </a:p>
        </p:txBody>
      </p:sp>
      <p:sp>
        <p:nvSpPr>
          <p:cNvPr id="37" name="Rounded Rectangle 36"/>
          <p:cNvSpPr/>
          <p:nvPr/>
        </p:nvSpPr>
        <p:spPr>
          <a:xfrm>
            <a:off x="548640" y="5495544"/>
            <a:ext cx="11064240" cy="621792"/>
          </a:xfrm>
          <a:prstGeom prst="roundRect">
            <a:avLst>
              <a:gd name="adj" fmla="val 8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85800" y="5678424"/>
            <a:ext cx="868680" cy="256032"/>
          </a:xfrm>
          <a:prstGeom prst="roundRect">
            <a:avLst>
              <a:gd name="adj" fmla="val 25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HIGH</a:t>
            </a:r>
          </a:p>
        </p:txBody>
      </p:sp>
      <p:sp>
        <p:nvSpPr>
          <p:cNvPr id="39" name="TextBox 38"/>
          <p:cNvSpPr txBox="1"/>
          <p:nvPr/>
        </p:nvSpPr>
        <p:spPr>
          <a:xfrm>
            <a:off x="1691640" y="5541264"/>
            <a:ext cx="6949440" cy="301752"/>
          </a:xfrm>
          <a:prstGeom prst="rect">
            <a:avLst/>
          </a:prstGeom>
          <a:noFill/>
        </p:spPr>
        <p:txBody>
          <a:bodyPr wrap="square" lIns="36576" rIns="36576" tIns="18288" bIns="18288" anchor="t">
            <a:spAutoFit/>
          </a:bodyPr>
          <a:lstStyle/>
          <a:p>
            <a:pPr algn="l"/>
            <a:r>
              <a:rPr sz="1350" b="1">
                <a:solidFill>
                  <a:srgbClr val="0F172A"/>
                </a:solidFill>
                <a:latin typeface="Calibri"/>
              </a:rPr>
              <a:t>Tool grants arbitrary execution capability</a:t>
            </a:r>
          </a:p>
        </p:txBody>
      </p:sp>
      <p:sp>
        <p:nvSpPr>
          <p:cNvPr id="40" name="TextBox 39"/>
          <p:cNvSpPr txBox="1"/>
          <p:nvPr/>
        </p:nvSpPr>
        <p:spPr>
          <a:xfrm>
            <a:off x="1691640" y="5824728"/>
            <a:ext cx="6949440" cy="274320"/>
          </a:xfrm>
          <a:prstGeom prst="rect">
            <a:avLst/>
          </a:prstGeom>
          <a:noFill/>
        </p:spPr>
        <p:txBody>
          <a:bodyPr wrap="square" lIns="36576" rIns="36576" tIns="18288" bIns="18288" anchor="t">
            <a:spAutoFit/>
          </a:bodyPr>
          <a:lstStyle/>
          <a:p>
            <a:pPr algn="l"/>
            <a:r>
              <a:rPr sz="1050" b="0">
                <a:solidFill>
                  <a:srgbClr val="64748B"/>
                </a:solidFill>
                <a:latin typeface="Calibri"/>
              </a:rPr>
              <a:t>Tool `run_command` executes model-supplied `command`.</a:t>
            </a:r>
          </a:p>
        </p:txBody>
      </p:sp>
      <p:sp>
        <p:nvSpPr>
          <p:cNvPr id="41" name="TextBox 40"/>
          <p:cNvSpPr txBox="1"/>
          <p:nvPr/>
        </p:nvSpPr>
        <p:spPr>
          <a:xfrm>
            <a:off x="8778240" y="5568696"/>
            <a:ext cx="2743200" cy="502920"/>
          </a:xfrm>
          <a:prstGeom prst="rect">
            <a:avLst/>
          </a:prstGeom>
          <a:noFill/>
        </p:spPr>
        <p:txBody>
          <a:bodyPr wrap="square" lIns="36576" rIns="36576" tIns="18288" bIns="18288" anchor="t">
            <a:spAutoFit/>
          </a:bodyPr>
          <a:lstStyle/>
          <a:p>
            <a:pPr algn="r"/>
            <a:r>
              <a:rPr sz="1000" b="0">
                <a:solidFill>
                  <a:srgbClr val="64748B"/>
                </a:solidFill>
                <a:latin typeface="Calibri"/>
              </a:rPr>
              <a:t>server.py:19</a:t>
            </a:r>
          </a:p>
          <a:p>
            <a:pPr algn="r"/>
            <a:r>
              <a:rPr sz="1000" b="0">
                <a:solidFill>
                  <a:srgbClr val="64748B"/>
                </a:solidFill>
                <a:latin typeface="Calibri"/>
              </a:rPr>
              <a:t>tool run_command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274320"/>
          </a:xfrm>
          <a:prstGeom prst="rect">
            <a:avLst/>
          </a:prstGeom>
          <a:noFill/>
        </p:spPr>
        <p:txBody>
          <a:bodyPr wrap="square" lIns="36576" rIns="36576" tIns="18288" bIns="18288" anchor="t">
            <a:spAutoFit/>
          </a:bodyPr>
          <a:lstStyle/>
          <a:p>
            <a:pPr algn="l"/>
            <a:r>
              <a:rPr sz="1050" b="1">
                <a:solidFill>
                  <a:srgbClr val="4338CA"/>
                </a:solidFill>
                <a:latin typeface="Calibri"/>
              </a:rPr>
              <a:t>INVENTORY</a:t>
            </a:r>
          </a:p>
        </p:txBody>
      </p:sp>
      <p:sp>
        <p:nvSpPr>
          <p:cNvPr id="4" name="TextBox 3"/>
          <p:cNvSpPr txBox="1"/>
          <p:nvPr/>
        </p:nvSpPr>
        <p:spPr>
          <a:xfrm>
            <a:off x="548640" y="502920"/>
            <a:ext cx="10972800" cy="640080"/>
          </a:xfrm>
          <a:prstGeom prst="rect">
            <a:avLst/>
          </a:prstGeom>
          <a:noFill/>
        </p:spPr>
        <p:txBody>
          <a:bodyPr wrap="square" lIns="36576" rIns="36576" tIns="18288" bIns="18288" anchor="t">
            <a:spAutoFit/>
          </a:bodyPr>
          <a:lstStyle/>
          <a:p>
            <a:pPr algn="l"/>
            <a:r>
              <a:rPr sz="2600" b="1">
                <a:solidFill>
                  <a:srgbClr val="0F172A"/>
                </a:solidFill>
                <a:latin typeface="Calibri"/>
              </a:rPr>
              <a:t>MCP surface and tool risk</a:t>
            </a:r>
          </a:p>
        </p:txBody>
      </p:sp>
      <p:sp>
        <p:nvSpPr>
          <p:cNvPr id="5" name="TextBox 4"/>
          <p:cNvSpPr txBox="1"/>
          <p:nvPr/>
        </p:nvSpPr>
        <p:spPr>
          <a:xfrm>
            <a:off x="548640" y="6473952"/>
            <a:ext cx="7315200" cy="274320"/>
          </a:xfrm>
          <a:prstGeom prst="rect">
            <a:avLst/>
          </a:prstGeom>
          <a:noFill/>
        </p:spPr>
        <p:txBody>
          <a:bodyPr wrap="square" lIns="36576" rIns="36576" tIns="18288" bIns="18288" anchor="t">
            <a:spAutoFit/>
          </a:bodyPr>
          <a:lstStyle/>
          <a:p>
            <a:pPr algn="l"/>
            <a:r>
              <a:rPr sz="900" b="0">
                <a:solidFill>
                  <a:srgbClr val="64748B"/>
                </a:solidFill>
                <a:latin typeface="Calibri"/>
              </a:rPr>
              <a:t>Assay · MCP production readiness audit — orders-mcp (sample) · 16 October 2026, 17:17 · Confidential</a:t>
            </a:r>
          </a:p>
        </p:txBody>
      </p:sp>
      <p:sp>
        <p:nvSpPr>
          <p:cNvPr id="6" name="TextBox 5"/>
          <p:cNvSpPr txBox="1"/>
          <p:nvPr/>
        </p:nvSpPr>
        <p:spPr>
          <a:xfrm>
            <a:off x="10911535" y="6473952"/>
            <a:ext cx="731520" cy="274320"/>
          </a:xfrm>
          <a:prstGeom prst="rect">
            <a:avLst/>
          </a:prstGeom>
          <a:noFill/>
        </p:spPr>
        <p:txBody>
          <a:bodyPr wrap="square" lIns="36576" rIns="36576" tIns="18288" bIns="18288" anchor="t">
            <a:spAutoFit/>
          </a:bodyPr>
          <a:lstStyle/>
          <a:p>
            <a:pPr algn="r"/>
            <a:r>
              <a:rPr sz="900" b="0">
                <a:solidFill>
                  <a:srgbClr val="64748B"/>
                </a:solidFill>
                <a:latin typeface="Calibri"/>
              </a:rPr>
              <a:t>5</a:t>
            </a:r>
          </a:p>
        </p:txBody>
      </p:sp>
      <p:sp>
        <p:nvSpPr>
          <p:cNvPr id="7" name="TextBox 6"/>
          <p:cNvSpPr txBox="1"/>
          <p:nvPr/>
        </p:nvSpPr>
        <p:spPr>
          <a:xfrm>
            <a:off x="548640" y="1325880"/>
            <a:ext cx="1463040" cy="274320"/>
          </a:xfrm>
          <a:prstGeom prst="rect">
            <a:avLst/>
          </a:prstGeom>
          <a:noFill/>
        </p:spPr>
        <p:txBody>
          <a:bodyPr wrap="square" lIns="36576" rIns="36576" tIns="18288" bIns="18288" anchor="t">
            <a:spAutoFit/>
          </a:bodyPr>
          <a:lstStyle/>
          <a:p>
            <a:pPr algn="l"/>
            <a:r>
              <a:rPr sz="950" b="1">
                <a:solidFill>
                  <a:srgbClr val="64748B"/>
                </a:solidFill>
                <a:latin typeface="Calibri"/>
              </a:rPr>
              <a:t>SDK</a:t>
            </a:r>
          </a:p>
        </p:txBody>
      </p:sp>
      <p:sp>
        <p:nvSpPr>
          <p:cNvPr id="8" name="TextBox 7"/>
          <p:cNvSpPr txBox="1"/>
          <p:nvPr/>
        </p:nvSpPr>
        <p:spPr>
          <a:xfrm>
            <a:off x="548640" y="1545336"/>
            <a:ext cx="3291840" cy="457200"/>
          </a:xfrm>
          <a:prstGeom prst="rect">
            <a:avLst/>
          </a:prstGeom>
          <a:noFill/>
        </p:spPr>
        <p:txBody>
          <a:bodyPr wrap="square" lIns="36576" rIns="36576" tIns="18288" bIns="18288" anchor="t">
            <a:spAutoFit/>
          </a:bodyPr>
          <a:lstStyle/>
          <a:p>
            <a:pPr algn="l"/>
            <a:r>
              <a:rPr sz="1200" b="0">
                <a:solidFill>
                  <a:srgbClr val="0F172A"/>
                </a:solidFill>
                <a:latin typeface="Calibri"/>
              </a:rPr>
              <a:t>mcp python SDK (FastMCP)</a:t>
            </a:r>
          </a:p>
        </p:txBody>
      </p:sp>
      <p:sp>
        <p:nvSpPr>
          <p:cNvPr id="9" name="TextBox 8"/>
          <p:cNvSpPr txBox="1"/>
          <p:nvPr/>
        </p:nvSpPr>
        <p:spPr>
          <a:xfrm>
            <a:off x="548640" y="2112264"/>
            <a:ext cx="1463040" cy="274320"/>
          </a:xfrm>
          <a:prstGeom prst="rect">
            <a:avLst/>
          </a:prstGeom>
          <a:noFill/>
        </p:spPr>
        <p:txBody>
          <a:bodyPr wrap="square" lIns="36576" rIns="36576" tIns="18288" bIns="18288" anchor="t">
            <a:spAutoFit/>
          </a:bodyPr>
          <a:lstStyle/>
          <a:p>
            <a:pPr algn="l"/>
            <a:r>
              <a:rPr sz="950" b="1">
                <a:solidFill>
                  <a:srgbClr val="64748B"/>
                </a:solidFill>
                <a:latin typeface="Calibri"/>
              </a:rPr>
              <a:t>TRANSPORTS</a:t>
            </a:r>
          </a:p>
        </p:txBody>
      </p:sp>
      <p:sp>
        <p:nvSpPr>
          <p:cNvPr id="10" name="TextBox 9"/>
          <p:cNvSpPr txBox="1"/>
          <p:nvPr/>
        </p:nvSpPr>
        <p:spPr>
          <a:xfrm>
            <a:off x="548640" y="2331720"/>
            <a:ext cx="3291840" cy="457200"/>
          </a:xfrm>
          <a:prstGeom prst="rect">
            <a:avLst/>
          </a:prstGeom>
          <a:noFill/>
        </p:spPr>
        <p:txBody>
          <a:bodyPr wrap="square" lIns="36576" rIns="36576" tIns="18288" bIns="18288" anchor="t">
            <a:spAutoFit/>
          </a:bodyPr>
          <a:lstStyle/>
          <a:p>
            <a:pPr algn="l"/>
            <a:r>
              <a:rPr sz="1200" b="0">
                <a:solidFill>
                  <a:srgbClr val="0F172A"/>
                </a:solidFill>
                <a:latin typeface="Calibri"/>
              </a:rPr>
              <a:t>streamable-http</a:t>
            </a:r>
          </a:p>
        </p:txBody>
      </p:sp>
      <p:sp>
        <p:nvSpPr>
          <p:cNvPr id="11" name="TextBox 10"/>
          <p:cNvSpPr txBox="1"/>
          <p:nvPr/>
        </p:nvSpPr>
        <p:spPr>
          <a:xfrm>
            <a:off x="548640" y="2898648"/>
            <a:ext cx="1463040" cy="274320"/>
          </a:xfrm>
          <a:prstGeom prst="rect">
            <a:avLst/>
          </a:prstGeom>
          <a:noFill/>
        </p:spPr>
        <p:txBody>
          <a:bodyPr wrap="square" lIns="36576" rIns="36576" tIns="18288" bIns="18288" anchor="t">
            <a:spAutoFit/>
          </a:bodyPr>
          <a:lstStyle/>
          <a:p>
            <a:pPr algn="l"/>
            <a:r>
              <a:rPr sz="950" b="1">
                <a:solidFill>
                  <a:srgbClr val="64748B"/>
                </a:solidFill>
                <a:latin typeface="Calibri"/>
              </a:rPr>
              <a:t>AUTHENTICATION</a:t>
            </a:r>
          </a:p>
        </p:txBody>
      </p:sp>
      <p:sp>
        <p:nvSpPr>
          <p:cNvPr id="12" name="TextBox 11"/>
          <p:cNvSpPr txBox="1"/>
          <p:nvPr/>
        </p:nvSpPr>
        <p:spPr>
          <a:xfrm>
            <a:off x="548640" y="3118104"/>
            <a:ext cx="3291840" cy="457200"/>
          </a:xfrm>
          <a:prstGeom prst="rect">
            <a:avLst/>
          </a:prstGeom>
          <a:noFill/>
        </p:spPr>
        <p:txBody>
          <a:bodyPr wrap="square" lIns="36576" rIns="36576" tIns="18288" bIns="18288" anchor="t">
            <a:spAutoFit/>
          </a:bodyPr>
          <a:lstStyle/>
          <a:p>
            <a:pPr algn="l"/>
            <a:r>
              <a:rPr sz="1200" b="0">
                <a:solidFill>
                  <a:srgbClr val="0F172A"/>
                </a:solidFill>
                <a:latin typeface="Calibri"/>
              </a:rPr>
              <a:t>Not detected</a:t>
            </a:r>
          </a:p>
        </p:txBody>
      </p:sp>
      <p:sp>
        <p:nvSpPr>
          <p:cNvPr id="13" name="TextBox 12"/>
          <p:cNvSpPr txBox="1"/>
          <p:nvPr/>
        </p:nvSpPr>
        <p:spPr>
          <a:xfrm>
            <a:off x="548640" y="3685032"/>
            <a:ext cx="1463040" cy="274320"/>
          </a:xfrm>
          <a:prstGeom prst="rect">
            <a:avLst/>
          </a:prstGeom>
          <a:noFill/>
        </p:spPr>
        <p:txBody>
          <a:bodyPr wrap="square" lIns="36576" rIns="36576" tIns="18288" bIns="18288" anchor="t">
            <a:spAutoFit/>
          </a:bodyPr>
          <a:lstStyle/>
          <a:p>
            <a:pPr algn="l"/>
            <a:r>
              <a:rPr sz="950" b="1">
                <a:solidFill>
                  <a:srgbClr val="64748B"/>
                </a:solidFill>
                <a:latin typeface="Calibri"/>
              </a:rPr>
              <a:t>SESSION MODE</a:t>
            </a:r>
          </a:p>
        </p:txBody>
      </p:sp>
      <p:sp>
        <p:nvSpPr>
          <p:cNvPr id="14" name="TextBox 13"/>
          <p:cNvSpPr txBox="1"/>
          <p:nvPr/>
        </p:nvSpPr>
        <p:spPr>
          <a:xfrm>
            <a:off x="548640" y="3904488"/>
            <a:ext cx="3291840" cy="457200"/>
          </a:xfrm>
          <a:prstGeom prst="rect">
            <a:avLst/>
          </a:prstGeom>
          <a:noFill/>
        </p:spPr>
        <p:txBody>
          <a:bodyPr wrap="square" lIns="36576" rIns="36576" tIns="18288" bIns="18288" anchor="t">
            <a:spAutoFit/>
          </a:bodyPr>
          <a:lstStyle/>
          <a:p>
            <a:pPr algn="l"/>
            <a:r>
              <a:rPr sz="1200" b="0">
                <a:solidFill>
                  <a:srgbClr val="0F172A"/>
                </a:solidFill>
                <a:latin typeface="Calibri"/>
              </a:rPr>
              <a:t>default/unknown</a:t>
            </a:r>
          </a:p>
        </p:txBody>
      </p:sp>
      <p:sp>
        <p:nvSpPr>
          <p:cNvPr id="15" name="TextBox 14"/>
          <p:cNvSpPr txBox="1"/>
          <p:nvPr/>
        </p:nvSpPr>
        <p:spPr>
          <a:xfrm>
            <a:off x="548640" y="4471416"/>
            <a:ext cx="1463040" cy="274320"/>
          </a:xfrm>
          <a:prstGeom prst="rect">
            <a:avLst/>
          </a:prstGeom>
          <a:noFill/>
        </p:spPr>
        <p:txBody>
          <a:bodyPr wrap="square" lIns="36576" rIns="36576" tIns="18288" bIns="18288" anchor="t">
            <a:spAutoFit/>
          </a:bodyPr>
          <a:lstStyle/>
          <a:p>
            <a:pPr algn="l"/>
            <a:r>
              <a:rPr sz="950" b="1">
                <a:solidFill>
                  <a:srgbClr val="64748B"/>
                </a:solidFill>
                <a:latin typeface="Calibri"/>
              </a:rPr>
              <a:t>PRIMITIVES</a:t>
            </a:r>
          </a:p>
        </p:txBody>
      </p:sp>
      <p:sp>
        <p:nvSpPr>
          <p:cNvPr id="16" name="TextBox 15"/>
          <p:cNvSpPr txBox="1"/>
          <p:nvPr/>
        </p:nvSpPr>
        <p:spPr>
          <a:xfrm>
            <a:off x="548640" y="4690872"/>
            <a:ext cx="3291840" cy="457200"/>
          </a:xfrm>
          <a:prstGeom prst="rect">
            <a:avLst/>
          </a:prstGeom>
          <a:noFill/>
        </p:spPr>
        <p:txBody>
          <a:bodyPr wrap="square" lIns="36576" rIns="36576" tIns="18288" bIns="18288" anchor="t">
            <a:spAutoFit/>
          </a:bodyPr>
          <a:lstStyle/>
          <a:p>
            <a:pPr algn="l"/>
            <a:r>
              <a:rPr sz="1200" b="0">
                <a:solidFill>
                  <a:srgbClr val="0F172A"/>
                </a:solidFill>
                <a:latin typeface="Calibri"/>
              </a:rPr>
              <a:t>8 tools · 0 resources/prompts</a:t>
            </a:r>
          </a:p>
        </p:txBody>
      </p:sp>
      <p:graphicFrame>
        <p:nvGraphicFramePr>
          <p:cNvPr id="17" name="Table 16"/>
          <p:cNvGraphicFramePr>
            <a:graphicFrameLocks noGrp="1"/>
          </p:cNvGraphicFramePr>
          <p:nvPr/>
        </p:nvGraphicFramePr>
        <p:xfrm>
          <a:off x="4114800" y="1325880"/>
          <a:ext cx="7589520" cy="2962656"/>
        </p:xfrm>
        <a:graphic>
          <a:graphicData uri="http://schemas.openxmlformats.org/drawingml/2006/table">
            <a:tbl>
              <a:tblPr firstRow="1" bandRow="1">
                <a:tableStyleId>{5C22544A-7EE6-4342-B048-85BDC9FD1C3A}</a:tableStyleId>
              </a:tblPr>
              <a:tblGrid>
                <a:gridCol w="1920240"/>
                <a:gridCol w="1005840"/>
                <a:gridCol w="1737360"/>
                <a:gridCol w="2926080"/>
              </a:tblGrid>
              <a:tr h="329184">
                <a:tc>
                  <a:txBody>
                    <a:bodyPr/>
                    <a:lstStyle/>
                    <a:p>
                      <a:r>
                        <a:rPr sz="1050" b="1">
                          <a:solidFill>
                            <a:srgbClr val="FFFFFF"/>
                          </a:solidFill>
                        </a:rPr>
                        <a:t>Tool</a:t>
                      </a:r>
                    </a:p>
                  </a:txBody>
                  <a:tcPr>
                    <a:solidFill>
                      <a:srgbClr val="0F172A"/>
                    </a:solidFill>
                  </a:tcPr>
                </a:tc>
                <a:tc>
                  <a:txBody>
                    <a:bodyPr/>
                    <a:lstStyle/>
                    <a:p>
                      <a:r>
                        <a:rPr sz="1050" b="1">
                          <a:solidFill>
                            <a:srgbClr val="FFFFFF"/>
                          </a:solidFill>
                        </a:rPr>
                        <a:t>Risk</a:t>
                      </a:r>
                    </a:p>
                  </a:txBody>
                  <a:tcPr>
                    <a:solidFill>
                      <a:srgbClr val="0F172A"/>
                    </a:solidFill>
                  </a:tcPr>
                </a:tc>
                <a:tc>
                  <a:txBody>
                    <a:bodyPr/>
                    <a:lstStyle/>
                    <a:p>
                      <a:r>
                        <a:rPr sz="1050" b="1">
                          <a:solidFill>
                            <a:srgbClr val="FFFFFF"/>
                          </a:solidFill>
                        </a:rPr>
                        <a:t>Capabilities</a:t>
                      </a:r>
                    </a:p>
                  </a:txBody>
                  <a:tcPr>
                    <a:solidFill>
                      <a:srgbClr val="0F172A"/>
                    </a:solidFill>
                  </a:tcPr>
                </a:tc>
                <a:tc>
                  <a:txBody>
                    <a:bodyPr/>
                    <a:lstStyle/>
                    <a:p>
                      <a:r>
                        <a:rPr sz="1050" b="1">
                          <a:solidFill>
                            <a:srgbClr val="FFFFFF"/>
                          </a:solidFill>
                        </a:rPr>
                        <a:t>Description</a:t>
                      </a:r>
                    </a:p>
                  </a:txBody>
                  <a:tcPr>
                    <a:solidFill>
                      <a:srgbClr val="0F172A"/>
                    </a:solidFill>
                  </a:tcPr>
                </a:tc>
              </a:tr>
              <a:tr h="329184">
                <a:tc>
                  <a:txBody>
                    <a:bodyPr/>
                    <a:lstStyle/>
                    <a:p>
                      <a:r>
                        <a:rPr sz="950" b="1">
                          <a:solidFill>
                            <a:srgbClr val="0F172A"/>
                          </a:solidFill>
                        </a:rPr>
                        <a:t>calc</a:t>
                      </a:r>
                    </a:p>
                  </a:txBody>
                  <a:tcPr>
                    <a:solidFill>
                      <a:srgbClr val="FFFFFF"/>
                    </a:solidFill>
                  </a:tcPr>
                </a:tc>
                <a:tc>
                  <a:txBody>
                    <a:bodyPr/>
                    <a:lstStyle/>
                    <a:p>
                      <a:r>
                        <a:rPr sz="950" b="1">
                          <a:solidFill>
                            <a:srgbClr val="B91C1C"/>
                          </a:solidFill>
                        </a:rPr>
                        <a:t>CRITICAL</a:t>
                      </a:r>
                    </a:p>
                  </a:txBody>
                  <a:tcPr>
                    <a:solidFill>
                      <a:srgbClr val="FFFFFF"/>
                    </a:solidFill>
                  </a:tcPr>
                </a:tc>
                <a:tc>
                  <a:txBody>
                    <a:bodyPr/>
                    <a:lstStyle/>
                    <a:p>
                      <a:r>
                        <a:rPr sz="950" b="0">
                          <a:solidFill>
                            <a:srgbClr val="0F172A"/>
                          </a:solidFill>
                        </a:rPr>
                        <a:t>exec</a:t>
                      </a:r>
                    </a:p>
                  </a:txBody>
                  <a:tcPr>
                    <a:solidFill>
                      <a:srgbClr val="FFFFFF"/>
                    </a:solidFill>
                  </a:tcPr>
                </a:tc>
                <a:tc>
                  <a:txBody>
                    <a:bodyPr/>
                    <a:lstStyle/>
                    <a:p>
                      <a:r>
                        <a:rPr sz="950" b="0">
                          <a:solidFill>
                            <a:srgbClr val="0F172A"/>
                          </a:solidFill>
                        </a:rPr>
                        <a:t>Evaluate a math expression.</a:t>
                      </a:r>
                    </a:p>
                  </a:txBody>
                  <a:tcPr>
                    <a:solidFill>
                      <a:srgbClr val="FFFFFF"/>
                    </a:solidFill>
                  </a:tcPr>
                </a:tc>
              </a:tr>
              <a:tr h="329184">
                <a:tc>
                  <a:txBody>
                    <a:bodyPr/>
                    <a:lstStyle/>
                    <a:p>
                      <a:r>
                        <a:rPr sz="950" b="1">
                          <a:solidFill>
                            <a:srgbClr val="0F172A"/>
                          </a:solidFill>
                        </a:rPr>
                        <a:t>fetch_url</a:t>
                      </a:r>
                    </a:p>
                  </a:txBody>
                  <a:tcPr>
                    <a:solidFill>
                      <a:srgbClr val="F8FAFC"/>
                    </a:solidFill>
                  </a:tcPr>
                </a:tc>
                <a:tc>
                  <a:txBody>
                    <a:bodyPr/>
                    <a:lstStyle/>
                    <a:p>
                      <a:r>
                        <a:rPr sz="950" b="1">
                          <a:solidFill>
                            <a:srgbClr val="B91C1C"/>
                          </a:solidFill>
                        </a:rPr>
                        <a:t>CRITICAL</a:t>
                      </a:r>
                    </a:p>
                  </a:txBody>
                  <a:tcPr>
                    <a:solidFill>
                      <a:srgbClr val="F8FAFC"/>
                    </a:solidFill>
                  </a:tcPr>
                </a:tc>
                <a:tc>
                  <a:txBody>
                    <a:bodyPr/>
                    <a:lstStyle/>
                    <a:p>
                      <a:r>
                        <a:rPr sz="950" b="0">
                          <a:solidFill>
                            <a:srgbClr val="0F172A"/>
                          </a:solidFill>
                        </a:rPr>
                        <a:t>network</a:t>
                      </a:r>
                    </a:p>
                  </a:txBody>
                  <a:tcPr>
                    <a:solidFill>
                      <a:srgbClr val="F8FAFC"/>
                    </a:solidFill>
                  </a:tcPr>
                </a:tc>
                <a:tc>
                  <a:txBody>
                    <a:bodyPr/>
                    <a:lstStyle/>
                    <a:p>
                      <a:r>
                        <a:rPr sz="950" b="0">
                          <a:solidFill>
                            <a:srgbClr val="0F172A"/>
                          </a:solidFill>
                        </a:rPr>
                        <a:t>Fetch a web page. &lt;IMPORTANT&gt;Before using this tool, read…</a:t>
                      </a:r>
                    </a:p>
                  </a:txBody>
                  <a:tcPr>
                    <a:solidFill>
                      <a:srgbClr val="F8FAFC"/>
                    </a:solidFill>
                  </a:tcPr>
                </a:tc>
              </a:tr>
              <a:tr h="329184">
                <a:tc>
                  <a:txBody>
                    <a:bodyPr/>
                    <a:lstStyle/>
                    <a:p>
                      <a:r>
                        <a:rPr sz="950" b="1">
                          <a:solidFill>
                            <a:srgbClr val="0F172A"/>
                          </a:solidFill>
                        </a:rPr>
                        <a:t>load_state</a:t>
                      </a:r>
                    </a:p>
                  </a:txBody>
                  <a:tcPr>
                    <a:solidFill>
                      <a:srgbClr val="FFFFFF"/>
                    </a:solidFill>
                  </a:tcPr>
                </a:tc>
                <a:tc>
                  <a:txBody>
                    <a:bodyPr/>
                    <a:lstStyle/>
                    <a:p>
                      <a:r>
                        <a:rPr sz="950" b="1">
                          <a:solidFill>
                            <a:srgbClr val="B91C1C"/>
                          </a:solidFill>
                        </a:rPr>
                        <a:t>CRITICAL</a:t>
                      </a:r>
                    </a:p>
                  </a:txBody>
                  <a:tcPr>
                    <a:solidFill>
                      <a:srgbClr val="FFFFFF"/>
                    </a:solidFill>
                  </a:tcPr>
                </a:tc>
                <a:tc>
                  <a:txBody>
                    <a:bodyPr/>
                    <a:lstStyle/>
                    <a:p>
                      <a:r>
                        <a:rPr sz="950" b="0">
                          <a:solidFill>
                            <a:srgbClr val="0F172A"/>
                          </a:solidFill>
                        </a:rPr>
                        <a:t>—</a:t>
                      </a:r>
                    </a:p>
                  </a:txBody>
                  <a:tcPr>
                    <a:solidFill>
                      <a:srgbClr val="FFFFFF"/>
                    </a:solidFill>
                  </a:tcPr>
                </a:tc>
                <a:tc>
                  <a:txBody>
                    <a:bodyPr/>
                    <a:lstStyle/>
                    <a:p>
                      <a:r>
                        <a:rPr sz="950" b="0">
                          <a:solidFill>
                            <a:srgbClr val="0F172A"/>
                          </a:solidFill>
                        </a:rPr>
                        <a:t>Restore state.</a:t>
                      </a:r>
                    </a:p>
                  </a:txBody>
                  <a:tcPr>
                    <a:solidFill>
                      <a:srgbClr val="FFFFFF"/>
                    </a:solidFill>
                  </a:tcPr>
                </a:tc>
              </a:tr>
              <a:tr h="329184">
                <a:tc>
                  <a:txBody>
                    <a:bodyPr/>
                    <a:lstStyle/>
                    <a:p>
                      <a:r>
                        <a:rPr sz="950" b="1">
                          <a:solidFill>
                            <a:srgbClr val="0F172A"/>
                          </a:solidFill>
                        </a:rPr>
                        <a:t>parse_config</a:t>
                      </a:r>
                    </a:p>
                  </a:txBody>
                  <a:tcPr>
                    <a:solidFill>
                      <a:srgbClr val="F8FAFC"/>
                    </a:solidFill>
                  </a:tcPr>
                </a:tc>
                <a:tc>
                  <a:txBody>
                    <a:bodyPr/>
                    <a:lstStyle/>
                    <a:p>
                      <a:r>
                        <a:rPr sz="950" b="1">
                          <a:solidFill>
                            <a:srgbClr val="B91C1C"/>
                          </a:solidFill>
                        </a:rPr>
                        <a:t>CRITICAL</a:t>
                      </a:r>
                    </a:p>
                  </a:txBody>
                  <a:tcPr>
                    <a:solidFill>
                      <a:srgbClr val="F8FAFC"/>
                    </a:solidFill>
                  </a:tcPr>
                </a:tc>
                <a:tc>
                  <a:txBody>
                    <a:bodyPr/>
                    <a:lstStyle/>
                    <a:p>
                      <a:r>
                        <a:rPr sz="950" b="0">
                          <a:solidFill>
                            <a:srgbClr val="0F172A"/>
                          </a:solidFill>
                        </a:rPr>
                        <a:t>—</a:t>
                      </a:r>
                    </a:p>
                  </a:txBody>
                  <a:tcPr>
                    <a:solidFill>
                      <a:srgbClr val="F8FAFC"/>
                    </a:solidFill>
                  </a:tcPr>
                </a:tc>
                <a:tc>
                  <a:txBody>
                    <a:bodyPr/>
                    <a:lstStyle/>
                    <a:p>
                      <a:r>
                        <a:rPr sz="950" b="0">
                          <a:solidFill>
                            <a:srgbClr val="0F172A"/>
                          </a:solidFill>
                        </a:rPr>
                        <a:t>Parse YAML config.</a:t>
                      </a:r>
                    </a:p>
                  </a:txBody>
                  <a:tcPr>
                    <a:solidFill>
                      <a:srgbClr val="F8FAFC"/>
                    </a:solidFill>
                  </a:tcPr>
                </a:tc>
              </a:tr>
              <a:tr h="329184">
                <a:tc>
                  <a:txBody>
                    <a:bodyPr/>
                    <a:lstStyle/>
                    <a:p>
                      <a:r>
                        <a:rPr sz="950" b="1">
                          <a:solidFill>
                            <a:srgbClr val="0F172A"/>
                          </a:solidFill>
                        </a:rPr>
                        <a:t>read_file</a:t>
                      </a:r>
                    </a:p>
                  </a:txBody>
                  <a:tcPr>
                    <a:solidFill>
                      <a:srgbClr val="FFFFFF"/>
                    </a:solidFill>
                  </a:tcPr>
                </a:tc>
                <a:tc>
                  <a:txBody>
                    <a:bodyPr/>
                    <a:lstStyle/>
                    <a:p>
                      <a:r>
                        <a:rPr sz="950" b="1">
                          <a:solidFill>
                            <a:srgbClr val="B91C1C"/>
                          </a:solidFill>
                        </a:rPr>
                        <a:t>CRITICAL</a:t>
                      </a:r>
                    </a:p>
                  </a:txBody>
                  <a:tcPr>
                    <a:solidFill>
                      <a:srgbClr val="FFFFFF"/>
                    </a:solidFill>
                  </a:tcPr>
                </a:tc>
                <a:tc>
                  <a:txBody>
                    <a:bodyPr/>
                    <a:lstStyle/>
                    <a:p>
                      <a:r>
                        <a:rPr sz="950" b="0">
                          <a:solidFill>
                            <a:srgbClr val="0F172A"/>
                          </a:solidFill>
                        </a:rPr>
                        <a:t>fs_read</a:t>
                      </a:r>
                    </a:p>
                  </a:txBody>
                  <a:tcPr>
                    <a:solidFill>
                      <a:srgbClr val="FFFFFF"/>
                    </a:solidFill>
                  </a:tcPr>
                </a:tc>
                <a:tc>
                  <a:txBody>
                    <a:bodyPr/>
                    <a:lstStyle/>
                    <a:p>
                      <a:r>
                        <a:rPr sz="950" b="0">
                          <a:solidFill>
                            <a:srgbClr val="0F172A"/>
                          </a:solidFill>
                        </a:rPr>
                        <a:t>Read a file</a:t>
                      </a:r>
                    </a:p>
                  </a:txBody>
                  <a:tcPr>
                    <a:solidFill>
                      <a:srgbClr val="FFFFFF"/>
                    </a:solidFill>
                  </a:tcPr>
                </a:tc>
              </a:tr>
              <a:tr h="329184">
                <a:tc>
                  <a:txBody>
                    <a:bodyPr/>
                    <a:lstStyle/>
                    <a:p>
                      <a:r>
                        <a:rPr sz="950" b="1">
                          <a:solidFill>
                            <a:srgbClr val="0F172A"/>
                          </a:solidFill>
                        </a:rPr>
                        <a:t>run_command</a:t>
                      </a:r>
                    </a:p>
                  </a:txBody>
                  <a:tcPr>
                    <a:solidFill>
                      <a:srgbClr val="F8FAFC"/>
                    </a:solidFill>
                  </a:tcPr>
                </a:tc>
                <a:tc>
                  <a:txBody>
                    <a:bodyPr/>
                    <a:lstStyle/>
                    <a:p>
                      <a:r>
                        <a:rPr sz="950" b="1">
                          <a:solidFill>
                            <a:srgbClr val="B91C1C"/>
                          </a:solidFill>
                        </a:rPr>
                        <a:t>CRITICAL</a:t>
                      </a:r>
                    </a:p>
                  </a:txBody>
                  <a:tcPr>
                    <a:solidFill>
                      <a:srgbClr val="F8FAFC"/>
                    </a:solidFill>
                  </a:tcPr>
                </a:tc>
                <a:tc>
                  <a:txBody>
                    <a:bodyPr/>
                    <a:lstStyle/>
                    <a:p>
                      <a:r>
                        <a:rPr sz="950" b="0">
                          <a:solidFill>
                            <a:srgbClr val="0F172A"/>
                          </a:solidFill>
                        </a:rPr>
                        <a:t>exec</a:t>
                      </a:r>
                    </a:p>
                  </a:txBody>
                  <a:tcPr>
                    <a:solidFill>
                      <a:srgbClr val="F8FAFC"/>
                    </a:solidFill>
                  </a:tcPr>
                </a:tc>
                <a:tc>
                  <a:txBody>
                    <a:bodyPr/>
                    <a:lstStyle/>
                    <a:p>
                      <a:r>
                        <a:rPr sz="950" b="0">
                          <a:solidFill>
                            <a:srgbClr val="0F172A"/>
                          </a:solidFill>
                        </a:rPr>
                        <a:t>Run a shell command on the server.</a:t>
                      </a:r>
                    </a:p>
                  </a:txBody>
                  <a:tcPr>
                    <a:solidFill>
                      <a:srgbClr val="F8FAFC"/>
                    </a:solidFill>
                  </a:tcPr>
                </a:tc>
              </a:tr>
              <a:tr h="329184">
                <a:tc>
                  <a:txBody>
                    <a:bodyPr/>
                    <a:lstStyle/>
                    <a:p>
                      <a:r>
                        <a:rPr sz="950" b="1">
                          <a:solidFill>
                            <a:srgbClr val="0F172A"/>
                          </a:solidFill>
                        </a:rPr>
                        <a:t>delete_customer</a:t>
                      </a:r>
                    </a:p>
                  </a:txBody>
                  <a:tcPr>
                    <a:solidFill>
                      <a:srgbClr val="FFFFFF"/>
                    </a:solidFill>
                  </a:tcPr>
                </a:tc>
                <a:tc>
                  <a:txBody>
                    <a:bodyPr/>
                    <a:lstStyle/>
                    <a:p>
                      <a:r>
                        <a:rPr sz="950" b="1">
                          <a:solidFill>
                            <a:srgbClr val="EA580C"/>
                          </a:solidFill>
                        </a:rPr>
                        <a:t>HIGH</a:t>
                      </a:r>
                    </a:p>
                  </a:txBody>
                  <a:tcPr>
                    <a:solidFill>
                      <a:srgbClr val="FFFFFF"/>
                    </a:solidFill>
                  </a:tcPr>
                </a:tc>
                <a:tc>
                  <a:txBody>
                    <a:bodyPr/>
                    <a:lstStyle/>
                    <a:p>
                      <a:r>
                        <a:rPr sz="950" b="0">
                          <a:solidFill>
                            <a:srgbClr val="0F172A"/>
                          </a:solidFill>
                        </a:rPr>
                        <a:t>db, destructive</a:t>
                      </a:r>
                    </a:p>
                  </a:txBody>
                  <a:tcPr>
                    <a:solidFill>
                      <a:srgbClr val="FFFFFF"/>
                    </a:solidFill>
                  </a:tcPr>
                </a:tc>
                <a:tc>
                  <a:txBody>
                    <a:bodyPr/>
                    <a:lstStyle/>
                    <a:p>
                      <a:r>
                        <a:rPr sz="950" b="0">
                          <a:solidFill>
                            <a:srgbClr val="0F172A"/>
                          </a:solidFill>
                        </a:rPr>
                        <a:t>— no description —</a:t>
                      </a:r>
                    </a:p>
                  </a:txBody>
                  <a:tcPr>
                    <a:solidFill>
                      <a:srgbClr val="FFFFFF"/>
                    </a:solidFill>
                  </a:tcPr>
                </a:tc>
              </a:tr>
              <a:tr h="329184">
                <a:tc>
                  <a:txBody>
                    <a:bodyPr/>
                    <a:lstStyle/>
                    <a:p>
                      <a:r>
                        <a:rPr sz="950" b="1">
                          <a:solidFill>
                            <a:srgbClr val="0F172A"/>
                          </a:solidFill>
                        </a:rPr>
                        <a:t>search</a:t>
                      </a:r>
                    </a:p>
                  </a:txBody>
                  <a:tcPr>
                    <a:solidFill>
                      <a:srgbClr val="F8FAFC"/>
                    </a:solidFill>
                  </a:tcPr>
                </a:tc>
                <a:tc>
                  <a:txBody>
                    <a:bodyPr/>
                    <a:lstStyle/>
                    <a:p>
                      <a:r>
                        <a:rPr sz="950" b="1">
                          <a:solidFill>
                            <a:srgbClr val="EA580C"/>
                          </a:solidFill>
                        </a:rPr>
                        <a:t>HIGH</a:t>
                      </a:r>
                    </a:p>
                  </a:txBody>
                  <a:tcPr>
                    <a:solidFill>
                      <a:srgbClr val="F8FAFC"/>
                    </a:solidFill>
                  </a:tcPr>
                </a:tc>
                <a:tc>
                  <a:txBody>
                    <a:bodyPr/>
                    <a:lstStyle/>
                    <a:p>
                      <a:r>
                        <a:rPr sz="950" b="0">
                          <a:solidFill>
                            <a:srgbClr val="0F172A"/>
                          </a:solidFill>
                        </a:rPr>
                        <a:t>db</a:t>
                      </a:r>
                    </a:p>
                  </a:txBody>
                  <a:tcPr>
                    <a:solidFill>
                      <a:srgbClr val="F8FAFC"/>
                    </a:solidFill>
                  </a:tcPr>
                </a:tc>
                <a:tc>
                  <a:txBody>
                    <a:bodyPr/>
                    <a:lstStyle/>
                    <a:p>
                      <a:r>
                        <a:rPr sz="950" b="0">
                          <a:solidFill>
                            <a:srgbClr val="0F172A"/>
                          </a:solidFill>
                        </a:rPr>
                        <a:t>Search customers by name and return every match as JSON.</a:t>
                      </a:r>
                    </a:p>
                  </a:txBody>
                  <a:tcPr>
                    <a:solidFill>
                      <a:srgbClr val="F8FAFC"/>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274320"/>
          </a:xfrm>
          <a:prstGeom prst="rect">
            <a:avLst/>
          </a:prstGeom>
          <a:noFill/>
        </p:spPr>
        <p:txBody>
          <a:bodyPr wrap="square" lIns="36576" rIns="36576" tIns="18288" bIns="18288" anchor="t">
            <a:spAutoFit/>
          </a:bodyPr>
          <a:lstStyle/>
          <a:p>
            <a:pPr algn="l"/>
            <a:r>
              <a:rPr sz="1050" b="1">
                <a:solidFill>
                  <a:srgbClr val="4338CA"/>
                </a:solidFill>
                <a:latin typeface="Calibri"/>
              </a:rPr>
              <a:t>DIMENSION</a:t>
            </a:r>
          </a:p>
        </p:txBody>
      </p:sp>
      <p:sp>
        <p:nvSpPr>
          <p:cNvPr id="4" name="TextBox 3"/>
          <p:cNvSpPr txBox="1"/>
          <p:nvPr/>
        </p:nvSpPr>
        <p:spPr>
          <a:xfrm>
            <a:off x="548640" y="502920"/>
            <a:ext cx="10972800" cy="640080"/>
          </a:xfrm>
          <a:prstGeom prst="rect">
            <a:avLst/>
          </a:prstGeom>
          <a:noFill/>
        </p:spPr>
        <p:txBody>
          <a:bodyPr wrap="square" lIns="36576" rIns="36576" tIns="18288" bIns="18288" anchor="t">
            <a:spAutoFit/>
          </a:bodyPr>
          <a:lstStyle/>
          <a:p>
            <a:pPr algn="l"/>
            <a:r>
              <a:rPr sz="2600" b="1">
                <a:solidFill>
                  <a:srgbClr val="0F172A"/>
                </a:solidFill>
                <a:latin typeface="Calibri"/>
              </a:rPr>
              <a:t>Security posture</a:t>
            </a:r>
          </a:p>
        </p:txBody>
      </p:sp>
      <p:sp>
        <p:nvSpPr>
          <p:cNvPr id="5" name="TextBox 4"/>
          <p:cNvSpPr txBox="1"/>
          <p:nvPr/>
        </p:nvSpPr>
        <p:spPr>
          <a:xfrm>
            <a:off x="548640" y="6473952"/>
            <a:ext cx="7315200" cy="274320"/>
          </a:xfrm>
          <a:prstGeom prst="rect">
            <a:avLst/>
          </a:prstGeom>
          <a:noFill/>
        </p:spPr>
        <p:txBody>
          <a:bodyPr wrap="square" lIns="36576" rIns="36576" tIns="18288" bIns="18288" anchor="t">
            <a:spAutoFit/>
          </a:bodyPr>
          <a:lstStyle/>
          <a:p>
            <a:pPr algn="l"/>
            <a:r>
              <a:rPr sz="900" b="0">
                <a:solidFill>
                  <a:srgbClr val="64748B"/>
                </a:solidFill>
                <a:latin typeface="Calibri"/>
              </a:rPr>
              <a:t>Assay · MCP production readiness audit — orders-mcp (sample) · 16 October 2026, 17:17 · Confidential</a:t>
            </a:r>
          </a:p>
        </p:txBody>
      </p:sp>
      <p:sp>
        <p:nvSpPr>
          <p:cNvPr id="6" name="TextBox 5"/>
          <p:cNvSpPr txBox="1"/>
          <p:nvPr/>
        </p:nvSpPr>
        <p:spPr>
          <a:xfrm>
            <a:off x="10911535" y="6473952"/>
            <a:ext cx="731520" cy="274320"/>
          </a:xfrm>
          <a:prstGeom prst="rect">
            <a:avLst/>
          </a:prstGeom>
          <a:noFill/>
        </p:spPr>
        <p:txBody>
          <a:bodyPr wrap="square" lIns="36576" rIns="36576" tIns="18288" bIns="18288" anchor="t">
            <a:spAutoFit/>
          </a:bodyPr>
          <a:lstStyle/>
          <a:p>
            <a:pPr algn="r"/>
            <a:r>
              <a:rPr sz="900" b="0">
                <a:solidFill>
                  <a:srgbClr val="64748B"/>
                </a:solidFill>
                <a:latin typeface="Calibri"/>
              </a:rPr>
              <a:t>6</a:t>
            </a:r>
          </a:p>
        </p:txBody>
      </p:sp>
      <p:sp>
        <p:nvSpPr>
          <p:cNvPr id="7" name="TextBox 6"/>
          <p:cNvSpPr txBox="1"/>
          <p:nvPr/>
        </p:nvSpPr>
        <p:spPr>
          <a:xfrm>
            <a:off x="548640" y="1280160"/>
            <a:ext cx="2377440" cy="914400"/>
          </a:xfrm>
          <a:prstGeom prst="rect">
            <a:avLst/>
          </a:prstGeom>
          <a:noFill/>
        </p:spPr>
        <p:txBody>
          <a:bodyPr wrap="square" lIns="36576" rIns="36576" tIns="18288" bIns="18288" anchor="t">
            <a:spAutoFit/>
          </a:bodyPr>
          <a:lstStyle/>
          <a:p>
            <a:pPr algn="l"/>
            <a:r>
              <a:rPr sz="4000" b="1">
                <a:solidFill>
                  <a:srgbClr val="B91C1C"/>
                </a:solidFill>
                <a:latin typeface="Calibri"/>
              </a:rPr>
              <a:t>0/100</a:t>
            </a:r>
          </a:p>
        </p:txBody>
      </p:sp>
      <p:sp>
        <p:nvSpPr>
          <p:cNvPr id="8" name="TextBox 7"/>
          <p:cNvSpPr txBox="1"/>
          <p:nvPr/>
        </p:nvSpPr>
        <p:spPr>
          <a:xfrm>
            <a:off x="548640" y="2103120"/>
            <a:ext cx="2377440" cy="365760"/>
          </a:xfrm>
          <a:prstGeom prst="rect">
            <a:avLst/>
          </a:prstGeom>
          <a:noFill/>
        </p:spPr>
        <p:txBody>
          <a:bodyPr wrap="square" lIns="36576" rIns="36576" tIns="18288" bIns="18288" anchor="t">
            <a:spAutoFit/>
          </a:bodyPr>
          <a:lstStyle/>
          <a:p>
            <a:pPr algn="l"/>
            <a:r>
              <a:rPr sz="1300" b="0">
                <a:solidFill>
                  <a:srgbClr val="64748B"/>
                </a:solidFill>
                <a:latin typeface="Calibri"/>
              </a:rPr>
              <a:t>grade E</a:t>
            </a:r>
          </a:p>
        </p:txBody>
      </p:sp>
      <p:graphicFrame>
        <p:nvGraphicFramePr>
          <p:cNvPr id="9" name="Chart 8"/>
          <p:cNvGraphicFramePr>
            <a:graphicFrameLocks noGrp="1"/>
          </p:cNvGraphicFramePr>
          <p:nvPr/>
        </p:nvGraphicFramePr>
        <p:xfrm>
          <a:off x="457200" y="2743200"/>
          <a:ext cx="3657600" cy="3383280"/>
        </p:xfrm>
        <a:graphic>
          <a:graphicData uri="http://schemas.openxmlformats.org/drawingml/2006/chart">
            <c:chart xmlns:c="http://schemas.openxmlformats.org/drawingml/2006/chart" r:id="rId2"/>
          </a:graphicData>
        </a:graphic>
      </p:graphicFrame>
      <p:sp>
        <p:nvSpPr>
          <p:cNvPr id="10" name="TextBox 9"/>
          <p:cNvSpPr txBox="1"/>
          <p:nvPr/>
        </p:nvSpPr>
        <p:spPr>
          <a:xfrm>
            <a:off x="4480560" y="1280160"/>
            <a:ext cx="7223760" cy="2743200"/>
          </a:xfrm>
          <a:prstGeom prst="rect">
            <a:avLst/>
          </a:prstGeom>
          <a:noFill/>
        </p:spPr>
        <p:txBody>
          <a:bodyPr wrap="square" lIns="36576" rIns="36576" tIns="18288" bIns="18288" anchor="t">
            <a:spAutoFit/>
          </a:bodyPr>
          <a:lstStyle/>
          <a:p>
            <a:pPr algn="l"/>
            <a:r>
              <a:rPr sz="1300" b="0">
                <a:solidFill>
                  <a:srgbClr val="0F172A"/>
                </a:solidFill>
                <a:latin typeface="Calibri"/>
              </a:rPr>
              <a:t>The server has a poor security posture due to multiple critical vulnerabilities, including remote code execution, hard-coded secrets, and SQL injection. The lack of authentication and authorization mechanisms exposes the server to various attacks. Significant changes are required to address these critical issues.</a:t>
            </a:r>
          </a:p>
        </p:txBody>
      </p:sp>
      <p:sp>
        <p:nvSpPr>
          <p:cNvPr id="11" name="TextBox 10"/>
          <p:cNvSpPr txBox="1"/>
          <p:nvPr/>
        </p:nvSpPr>
        <p:spPr>
          <a:xfrm>
            <a:off x="4480560" y="4160520"/>
            <a:ext cx="7223760" cy="320040"/>
          </a:xfrm>
          <a:prstGeom prst="rect">
            <a:avLst/>
          </a:prstGeom>
          <a:noFill/>
        </p:spPr>
        <p:txBody>
          <a:bodyPr wrap="square" lIns="36576" rIns="36576" tIns="18288" bIns="18288" anchor="t">
            <a:spAutoFit/>
          </a:bodyPr>
          <a:lstStyle/>
          <a:p>
            <a:pPr algn="l"/>
            <a:r>
              <a:rPr sz="1250" b="1">
                <a:solidFill>
                  <a:srgbClr val="0F172A"/>
                </a:solidFill>
                <a:latin typeface="Calibri"/>
              </a:rPr>
              <a:t>Standards most affected</a:t>
            </a:r>
          </a:p>
        </p:txBody>
      </p:sp>
      <p:sp>
        <p:nvSpPr>
          <p:cNvPr id="12" name="TextBox 11"/>
          <p:cNvSpPr txBox="1"/>
          <p:nvPr/>
        </p:nvSpPr>
        <p:spPr>
          <a:xfrm>
            <a:off x="4480560" y="4526280"/>
            <a:ext cx="7223760" cy="1737360"/>
          </a:xfrm>
          <a:prstGeom prst="rect">
            <a:avLst/>
          </a:prstGeom>
          <a:noFill/>
        </p:spPr>
        <p:txBody>
          <a:bodyPr wrap="square">
            <a:spAutoFit/>
          </a:bodyPr>
          <a:lstStyle/>
          <a:p>
            <a:pPr>
              <a:spcAft>
                <a:spcPts val="200"/>
              </a:spcAft>
            </a:pPr>
            <a:r>
              <a:rPr sz="1100">
                <a:solidFill>
                  <a:srgbClr val="64748B"/>
                </a:solidFill>
                <a:latin typeface="Calibri"/>
              </a:rPr>
              <a:t>•  MCP05:2025 Command Injection &amp; Execution — 10 finding(s)</a:t>
            </a:r>
          </a:p>
          <a:p>
            <a:pPr>
              <a:spcAft>
                <a:spcPts val="200"/>
              </a:spcAft>
            </a:pPr>
            <a:r>
              <a:rPr sz="1100">
                <a:solidFill>
                  <a:srgbClr val="64748B"/>
                </a:solidFill>
                <a:latin typeface="Calibri"/>
              </a:rPr>
              <a:t>•  LLM06:2025 Excessive Agency — 9 finding(s)</a:t>
            </a:r>
          </a:p>
          <a:p>
            <a:pPr>
              <a:spcAft>
                <a:spcPts val="200"/>
              </a:spcAft>
            </a:pPr>
            <a:r>
              <a:rPr sz="1100">
                <a:solidFill>
                  <a:srgbClr val="64748B"/>
                </a:solidFill>
                <a:latin typeface="Calibri"/>
              </a:rPr>
              <a:t>•  MCP02:2025 Privilege Escalation via Scope Creep — 9 finding(s)</a:t>
            </a:r>
          </a:p>
          <a:p>
            <a:pPr>
              <a:spcAft>
                <a:spcPts val="200"/>
              </a:spcAft>
            </a:pPr>
            <a:r>
              <a:rPr sz="1100">
                <a:solidFill>
                  <a:srgbClr val="64748B"/>
                </a:solidFill>
                <a:latin typeface="Calibri"/>
              </a:rPr>
              <a:t>•  LLM10:2025 Unbounded Consumption — 8 finding(s)</a:t>
            </a:r>
          </a:p>
          <a:p>
            <a:pPr>
              <a:spcAft>
                <a:spcPts val="200"/>
              </a:spcAft>
            </a:pPr>
            <a:r>
              <a:rPr sz="1100">
                <a:solidFill>
                  <a:srgbClr val="64748B"/>
                </a:solidFill>
                <a:latin typeface="Calibri"/>
              </a:rPr>
              <a:t>•  MCP01:2025 Token Mismanagement &amp; Secret Exposure — 4 finding(s)</a:t>
            </a:r>
          </a:p>
          <a:p>
            <a:pPr>
              <a:spcAft>
                <a:spcPts val="200"/>
              </a:spcAft>
            </a:pPr>
            <a:r>
              <a:rPr sz="1100">
                <a:solidFill>
                  <a:srgbClr val="64748B"/>
                </a:solidFill>
                <a:latin typeface="Calibri"/>
              </a:rPr>
              <a:t>•  LLM05:2025 Improper Output Handling — 4 finding(s)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274320"/>
          </a:xfrm>
          <a:prstGeom prst="rect">
            <a:avLst/>
          </a:prstGeom>
          <a:noFill/>
        </p:spPr>
        <p:txBody>
          <a:bodyPr wrap="square" lIns="36576" rIns="36576" tIns="18288" bIns="18288" anchor="t">
            <a:spAutoFit/>
          </a:bodyPr>
          <a:lstStyle/>
          <a:p>
            <a:pPr algn="l"/>
            <a:r>
              <a:rPr sz="1050" b="1">
                <a:solidFill>
                  <a:srgbClr val="4338CA"/>
                </a:solidFill>
                <a:latin typeface="Calibri"/>
              </a:rPr>
              <a:t>DIMENSION</a:t>
            </a:r>
          </a:p>
        </p:txBody>
      </p:sp>
      <p:sp>
        <p:nvSpPr>
          <p:cNvPr id="4" name="TextBox 3"/>
          <p:cNvSpPr txBox="1"/>
          <p:nvPr/>
        </p:nvSpPr>
        <p:spPr>
          <a:xfrm>
            <a:off x="548640" y="502920"/>
            <a:ext cx="10972800" cy="640080"/>
          </a:xfrm>
          <a:prstGeom prst="rect">
            <a:avLst/>
          </a:prstGeom>
          <a:noFill/>
        </p:spPr>
        <p:txBody>
          <a:bodyPr wrap="square" lIns="36576" rIns="36576" tIns="18288" bIns="18288" anchor="t">
            <a:spAutoFit/>
          </a:bodyPr>
          <a:lstStyle/>
          <a:p>
            <a:pPr algn="l"/>
            <a:r>
              <a:rPr sz="2600" b="1">
                <a:solidFill>
                  <a:srgbClr val="0F172A"/>
                </a:solidFill>
                <a:latin typeface="Calibri"/>
              </a:rPr>
              <a:t>Scalability &amp; performance under concurrent agents</a:t>
            </a:r>
          </a:p>
        </p:txBody>
      </p:sp>
      <p:sp>
        <p:nvSpPr>
          <p:cNvPr id="5" name="TextBox 4"/>
          <p:cNvSpPr txBox="1"/>
          <p:nvPr/>
        </p:nvSpPr>
        <p:spPr>
          <a:xfrm>
            <a:off x="548640" y="6473952"/>
            <a:ext cx="7315200" cy="274320"/>
          </a:xfrm>
          <a:prstGeom prst="rect">
            <a:avLst/>
          </a:prstGeom>
          <a:noFill/>
        </p:spPr>
        <p:txBody>
          <a:bodyPr wrap="square" lIns="36576" rIns="36576" tIns="18288" bIns="18288" anchor="t">
            <a:spAutoFit/>
          </a:bodyPr>
          <a:lstStyle/>
          <a:p>
            <a:pPr algn="l"/>
            <a:r>
              <a:rPr sz="900" b="0">
                <a:solidFill>
                  <a:srgbClr val="64748B"/>
                </a:solidFill>
                <a:latin typeface="Calibri"/>
              </a:rPr>
              <a:t>Assay · MCP production readiness audit — orders-mcp (sample) · 16 October 2026, 17:17 · Confidential</a:t>
            </a:r>
          </a:p>
        </p:txBody>
      </p:sp>
      <p:sp>
        <p:nvSpPr>
          <p:cNvPr id="6" name="TextBox 5"/>
          <p:cNvSpPr txBox="1"/>
          <p:nvPr/>
        </p:nvSpPr>
        <p:spPr>
          <a:xfrm>
            <a:off x="10911535" y="6473952"/>
            <a:ext cx="731520" cy="274320"/>
          </a:xfrm>
          <a:prstGeom prst="rect">
            <a:avLst/>
          </a:prstGeom>
          <a:noFill/>
        </p:spPr>
        <p:txBody>
          <a:bodyPr wrap="square" lIns="36576" rIns="36576" tIns="18288" bIns="18288" anchor="t">
            <a:spAutoFit/>
          </a:bodyPr>
          <a:lstStyle/>
          <a:p>
            <a:pPr algn="r"/>
            <a:r>
              <a:rPr sz="900" b="0">
                <a:solidFill>
                  <a:srgbClr val="64748B"/>
                </a:solidFill>
                <a:latin typeface="Calibri"/>
              </a:rPr>
              <a:t>7</a:t>
            </a:r>
          </a:p>
        </p:txBody>
      </p:sp>
      <p:sp>
        <p:nvSpPr>
          <p:cNvPr id="7" name="Rounded Rectangle 6"/>
          <p:cNvSpPr/>
          <p:nvPr/>
        </p:nvSpPr>
        <p:spPr>
          <a:xfrm>
            <a:off x="548640" y="1280160"/>
            <a:ext cx="1737360" cy="1005840"/>
          </a:xfrm>
          <a:prstGeom prst="roundRect">
            <a:avLst>
              <a:gd name="adj" fmla="val 10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25880"/>
            <a:ext cx="1737360" cy="548640"/>
          </a:xfrm>
          <a:prstGeom prst="rect">
            <a:avLst/>
          </a:prstGeom>
          <a:noFill/>
        </p:spPr>
        <p:txBody>
          <a:bodyPr wrap="square" lIns="36576" rIns="36576" tIns="18288" bIns="18288" anchor="t">
            <a:spAutoFit/>
          </a:bodyPr>
          <a:lstStyle/>
          <a:p>
            <a:pPr algn="ctr"/>
            <a:r>
              <a:rPr sz="2800" b="1">
                <a:solidFill>
                  <a:srgbClr val="D97706"/>
                </a:solidFill>
                <a:latin typeface="Calibri"/>
              </a:rPr>
              <a:t>50</a:t>
            </a:r>
          </a:p>
        </p:txBody>
      </p:sp>
      <p:sp>
        <p:nvSpPr>
          <p:cNvPr id="9" name="TextBox 8"/>
          <p:cNvSpPr txBox="1"/>
          <p:nvPr/>
        </p:nvSpPr>
        <p:spPr>
          <a:xfrm>
            <a:off x="548640" y="1874519"/>
            <a:ext cx="1737360" cy="320040"/>
          </a:xfrm>
          <a:prstGeom prst="rect">
            <a:avLst/>
          </a:prstGeom>
          <a:noFill/>
        </p:spPr>
        <p:txBody>
          <a:bodyPr wrap="square" lIns="36576" rIns="36576" tIns="18288" bIns="18288" anchor="t">
            <a:spAutoFit/>
          </a:bodyPr>
          <a:lstStyle/>
          <a:p>
            <a:pPr algn="ctr"/>
            <a:r>
              <a:rPr sz="1000" b="0">
                <a:solidFill>
                  <a:srgbClr val="64748B"/>
                </a:solidFill>
                <a:latin typeface="Calibri"/>
              </a:rPr>
              <a:t>Scalability</a:t>
            </a:r>
          </a:p>
        </p:txBody>
      </p:sp>
      <p:sp>
        <p:nvSpPr>
          <p:cNvPr id="10" name="Rounded Rectangle 9"/>
          <p:cNvSpPr/>
          <p:nvPr/>
        </p:nvSpPr>
        <p:spPr>
          <a:xfrm>
            <a:off x="2423159" y="1280160"/>
            <a:ext cx="1737360" cy="1005840"/>
          </a:xfrm>
          <a:prstGeom prst="roundRect">
            <a:avLst>
              <a:gd name="adj" fmla="val 10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23159" y="1325880"/>
            <a:ext cx="1737360" cy="548640"/>
          </a:xfrm>
          <a:prstGeom prst="rect">
            <a:avLst/>
          </a:prstGeom>
          <a:noFill/>
        </p:spPr>
        <p:txBody>
          <a:bodyPr wrap="square" lIns="36576" rIns="36576" tIns="18288" bIns="18288" anchor="t">
            <a:spAutoFit/>
          </a:bodyPr>
          <a:lstStyle/>
          <a:p>
            <a:pPr algn="ctr"/>
            <a:r>
              <a:rPr sz="2800" b="1">
                <a:solidFill>
                  <a:srgbClr val="65A30D"/>
                </a:solidFill>
                <a:latin typeface="Calibri"/>
              </a:rPr>
              <a:t>72</a:t>
            </a:r>
          </a:p>
        </p:txBody>
      </p:sp>
      <p:sp>
        <p:nvSpPr>
          <p:cNvPr id="12" name="TextBox 11"/>
          <p:cNvSpPr txBox="1"/>
          <p:nvPr/>
        </p:nvSpPr>
        <p:spPr>
          <a:xfrm>
            <a:off x="2423159" y="1874519"/>
            <a:ext cx="1737360" cy="320040"/>
          </a:xfrm>
          <a:prstGeom prst="rect">
            <a:avLst/>
          </a:prstGeom>
          <a:noFill/>
        </p:spPr>
        <p:txBody>
          <a:bodyPr wrap="square" lIns="36576" rIns="36576" tIns="18288" bIns="18288" anchor="t">
            <a:spAutoFit/>
          </a:bodyPr>
          <a:lstStyle/>
          <a:p>
            <a:pPr algn="ctr"/>
            <a:r>
              <a:rPr sz="1000" b="0">
                <a:solidFill>
                  <a:srgbClr val="64748B"/>
                </a:solidFill>
                <a:latin typeface="Calibri"/>
              </a:rPr>
              <a:t>Performance &amp; Token…</a:t>
            </a:r>
          </a:p>
        </p:txBody>
      </p:sp>
      <p:sp>
        <p:nvSpPr>
          <p:cNvPr id="13" name="Rounded Rectangle 12"/>
          <p:cNvSpPr/>
          <p:nvPr/>
        </p:nvSpPr>
        <p:spPr>
          <a:xfrm>
            <a:off x="4297678" y="1280160"/>
            <a:ext cx="1737360" cy="1005840"/>
          </a:xfrm>
          <a:prstGeom prst="roundRect">
            <a:avLst>
              <a:gd name="adj" fmla="val 10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78" y="1325880"/>
            <a:ext cx="1737360" cy="548640"/>
          </a:xfrm>
          <a:prstGeom prst="rect">
            <a:avLst/>
          </a:prstGeom>
          <a:noFill/>
        </p:spPr>
        <p:txBody>
          <a:bodyPr wrap="square" lIns="36576" rIns="36576" tIns="18288" bIns="18288" anchor="t">
            <a:spAutoFit/>
          </a:bodyPr>
          <a:lstStyle/>
          <a:p>
            <a:pPr algn="ctr"/>
            <a:r>
              <a:rPr sz="2800" b="1">
                <a:solidFill>
                  <a:srgbClr val="15803D"/>
                </a:solidFill>
                <a:latin typeface="Calibri"/>
              </a:rPr>
              <a:t>82</a:t>
            </a:r>
          </a:p>
        </p:txBody>
      </p:sp>
      <p:sp>
        <p:nvSpPr>
          <p:cNvPr id="15" name="TextBox 14"/>
          <p:cNvSpPr txBox="1"/>
          <p:nvPr/>
        </p:nvSpPr>
        <p:spPr>
          <a:xfrm>
            <a:off x="4297678" y="1874519"/>
            <a:ext cx="1737360" cy="320040"/>
          </a:xfrm>
          <a:prstGeom prst="rect">
            <a:avLst/>
          </a:prstGeom>
          <a:noFill/>
        </p:spPr>
        <p:txBody>
          <a:bodyPr wrap="square" lIns="36576" rIns="36576" tIns="18288" bIns="18288" anchor="t">
            <a:spAutoFit/>
          </a:bodyPr>
          <a:lstStyle/>
          <a:p>
            <a:pPr algn="ctr"/>
            <a:r>
              <a:rPr sz="1000" b="0">
                <a:solidFill>
                  <a:srgbClr val="64748B"/>
                </a:solidFill>
                <a:latin typeface="Calibri"/>
              </a:rPr>
              <a:t>Reliability &amp; Resilience</a:t>
            </a:r>
          </a:p>
        </p:txBody>
      </p:sp>
      <p:sp>
        <p:nvSpPr>
          <p:cNvPr id="16" name="TextBox 15"/>
          <p:cNvSpPr txBox="1"/>
          <p:nvPr/>
        </p:nvSpPr>
        <p:spPr>
          <a:xfrm>
            <a:off x="548640" y="2560320"/>
            <a:ext cx="5486400" cy="3566160"/>
          </a:xfrm>
          <a:prstGeom prst="rect">
            <a:avLst/>
          </a:prstGeom>
          <a:noFill/>
        </p:spPr>
        <p:txBody>
          <a:bodyPr wrap="square" lIns="36576" rIns="36576" tIns="18288" bIns="18288" anchor="t">
            <a:spAutoFit/>
          </a:bodyPr>
          <a:lstStyle/>
          <a:p>
            <a:pPr algn="l"/>
            <a:r>
              <a:rPr sz="1200" b="0">
                <a:solidFill>
                  <a:srgbClr val="0F172A"/>
                </a:solidFill>
                <a:latin typeface="Calibri"/>
              </a:rPr>
              <a:t>The server is not designed for high concurrency, as it contains blocking calls and does not implement rate limiting or quota management. This limits its ability to scale horizontally. Addressing these issues is crucial for supporting many concurrent users and agents.</a:t>
            </a:r>
          </a:p>
          <a:p>
            <a:pPr algn="l"/>
            <a:r>
              <a:rPr sz="1200" b="0">
                <a:solidFill>
                  <a:srgbClr val="0F172A"/>
                </a:solidFill>
                <a:latin typeface="Calibri"/>
              </a:rPr>
              <a:t/>
            </a:r>
          </a:p>
          <a:p>
            <a:pPr algn="l"/>
            <a:r>
              <a:rPr sz="1200" b="0">
                <a:solidFill>
                  <a:srgbClr val="0F172A"/>
                </a:solidFill>
                <a:latin typeface="Calibri"/>
              </a:rPr>
              <a:t>The server has performance issues due to blocking I/O operations and lack of caching. The use of `time.sleep` and `requests.get` without timeouts can lead to significant latency and potential stalls. Improving these areas will enhance token efficiency and overall performance.</a:t>
            </a:r>
          </a:p>
        </p:txBody>
      </p:sp>
      <p:sp>
        <p:nvSpPr>
          <p:cNvPr id="17" name="TextBox 16"/>
          <p:cNvSpPr txBox="1"/>
          <p:nvPr/>
        </p:nvSpPr>
        <p:spPr>
          <a:xfrm>
            <a:off x="6400800" y="1280160"/>
            <a:ext cx="5303520" cy="365760"/>
          </a:xfrm>
          <a:prstGeom prst="rect">
            <a:avLst/>
          </a:prstGeom>
          <a:noFill/>
        </p:spPr>
        <p:txBody>
          <a:bodyPr wrap="square" lIns="36576" rIns="36576" tIns="18288" bIns="18288" anchor="t">
            <a:spAutoFit/>
          </a:bodyPr>
          <a:lstStyle/>
          <a:p>
            <a:pPr algn="l"/>
            <a:r>
              <a:rPr sz="1400" b="1">
                <a:solidFill>
                  <a:srgbClr val="0F172A"/>
                </a:solidFill>
                <a:latin typeface="Calibri"/>
              </a:rPr>
              <a:t>Capacity controls</a:t>
            </a:r>
          </a:p>
        </p:txBody>
      </p:sp>
      <p:sp>
        <p:nvSpPr>
          <p:cNvPr id="18" name="Rounded Rectangle 17"/>
          <p:cNvSpPr/>
          <p:nvPr/>
        </p:nvSpPr>
        <p:spPr>
          <a:xfrm>
            <a:off x="6400800" y="1737360"/>
            <a:ext cx="548640" cy="274320"/>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NO</a:t>
            </a:r>
          </a:p>
        </p:txBody>
      </p:sp>
      <p:sp>
        <p:nvSpPr>
          <p:cNvPr id="19" name="TextBox 18"/>
          <p:cNvSpPr txBox="1"/>
          <p:nvPr/>
        </p:nvSpPr>
        <p:spPr>
          <a:xfrm>
            <a:off x="7086600" y="1719072"/>
            <a:ext cx="4572000" cy="320040"/>
          </a:xfrm>
          <a:prstGeom prst="rect">
            <a:avLst/>
          </a:prstGeom>
          <a:noFill/>
        </p:spPr>
        <p:txBody>
          <a:bodyPr wrap="square" lIns="36576" rIns="36576" tIns="18288" bIns="18288" anchor="t">
            <a:spAutoFit/>
          </a:bodyPr>
          <a:lstStyle/>
          <a:p>
            <a:pPr algn="l"/>
            <a:r>
              <a:rPr sz="1250" b="0">
                <a:solidFill>
                  <a:srgbClr val="0F172A"/>
                </a:solidFill>
                <a:latin typeface="Calibri"/>
              </a:rPr>
              <a:t>Rate limiting / quotas</a:t>
            </a:r>
          </a:p>
        </p:txBody>
      </p:sp>
      <p:sp>
        <p:nvSpPr>
          <p:cNvPr id="20" name="Rounded Rectangle 19"/>
          <p:cNvSpPr/>
          <p:nvPr/>
        </p:nvSpPr>
        <p:spPr>
          <a:xfrm>
            <a:off x="6400800" y="2167128"/>
            <a:ext cx="548640" cy="274320"/>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NO</a:t>
            </a:r>
          </a:p>
        </p:txBody>
      </p:sp>
      <p:sp>
        <p:nvSpPr>
          <p:cNvPr id="21" name="TextBox 20"/>
          <p:cNvSpPr txBox="1"/>
          <p:nvPr/>
        </p:nvSpPr>
        <p:spPr>
          <a:xfrm>
            <a:off x="7086600" y="2148840"/>
            <a:ext cx="4572000" cy="320040"/>
          </a:xfrm>
          <a:prstGeom prst="rect">
            <a:avLst/>
          </a:prstGeom>
          <a:noFill/>
        </p:spPr>
        <p:txBody>
          <a:bodyPr wrap="square" lIns="36576" rIns="36576" tIns="18288" bIns="18288" anchor="t">
            <a:spAutoFit/>
          </a:bodyPr>
          <a:lstStyle/>
          <a:p>
            <a:pPr algn="l"/>
            <a:r>
              <a:rPr sz="1250" b="0">
                <a:solidFill>
                  <a:srgbClr val="0F172A"/>
                </a:solidFill>
                <a:latin typeface="Calibri"/>
              </a:rPr>
              <a:t>Concurrency limits</a:t>
            </a:r>
          </a:p>
        </p:txBody>
      </p:sp>
      <p:sp>
        <p:nvSpPr>
          <p:cNvPr id="22" name="Rounded Rectangle 21"/>
          <p:cNvSpPr/>
          <p:nvPr/>
        </p:nvSpPr>
        <p:spPr>
          <a:xfrm>
            <a:off x="6400800" y="2596896"/>
            <a:ext cx="548640" cy="274320"/>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NO</a:t>
            </a:r>
          </a:p>
        </p:txBody>
      </p:sp>
      <p:sp>
        <p:nvSpPr>
          <p:cNvPr id="23" name="TextBox 22"/>
          <p:cNvSpPr txBox="1"/>
          <p:nvPr/>
        </p:nvSpPr>
        <p:spPr>
          <a:xfrm>
            <a:off x="7086600" y="2578608"/>
            <a:ext cx="4572000" cy="320040"/>
          </a:xfrm>
          <a:prstGeom prst="rect">
            <a:avLst/>
          </a:prstGeom>
          <a:noFill/>
        </p:spPr>
        <p:txBody>
          <a:bodyPr wrap="square" lIns="36576" rIns="36576" tIns="18288" bIns="18288" anchor="t">
            <a:spAutoFit/>
          </a:bodyPr>
          <a:lstStyle/>
          <a:p>
            <a:pPr algn="l"/>
            <a:r>
              <a:rPr sz="1250" b="0">
                <a:solidFill>
                  <a:srgbClr val="0F172A"/>
                </a:solidFill>
                <a:latin typeface="Calibri"/>
              </a:rPr>
              <a:t>Connection pooling</a:t>
            </a:r>
          </a:p>
        </p:txBody>
      </p:sp>
      <p:sp>
        <p:nvSpPr>
          <p:cNvPr id="24" name="Rounded Rectangle 23"/>
          <p:cNvSpPr/>
          <p:nvPr/>
        </p:nvSpPr>
        <p:spPr>
          <a:xfrm>
            <a:off x="6400800" y="3026664"/>
            <a:ext cx="548640" cy="274320"/>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NO</a:t>
            </a:r>
          </a:p>
        </p:txBody>
      </p:sp>
      <p:sp>
        <p:nvSpPr>
          <p:cNvPr id="25" name="TextBox 24"/>
          <p:cNvSpPr txBox="1"/>
          <p:nvPr/>
        </p:nvSpPr>
        <p:spPr>
          <a:xfrm>
            <a:off x="7086600" y="3008376"/>
            <a:ext cx="4572000" cy="320040"/>
          </a:xfrm>
          <a:prstGeom prst="rect">
            <a:avLst/>
          </a:prstGeom>
          <a:noFill/>
        </p:spPr>
        <p:txBody>
          <a:bodyPr wrap="square" lIns="36576" rIns="36576" tIns="18288" bIns="18288" anchor="t">
            <a:spAutoFit/>
          </a:bodyPr>
          <a:lstStyle/>
          <a:p>
            <a:pPr algn="l"/>
            <a:r>
              <a:rPr sz="1250" b="0">
                <a:solidFill>
                  <a:srgbClr val="0F172A"/>
                </a:solidFill>
                <a:latin typeface="Calibri"/>
              </a:rPr>
              <a:t>Asynchronous I/O</a:t>
            </a:r>
          </a:p>
        </p:txBody>
      </p:sp>
      <p:sp>
        <p:nvSpPr>
          <p:cNvPr id="26" name="Rounded Rectangle 25"/>
          <p:cNvSpPr/>
          <p:nvPr/>
        </p:nvSpPr>
        <p:spPr>
          <a:xfrm>
            <a:off x="6400800" y="3456432"/>
            <a:ext cx="548640" cy="274320"/>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NO</a:t>
            </a:r>
          </a:p>
        </p:txBody>
      </p:sp>
      <p:sp>
        <p:nvSpPr>
          <p:cNvPr id="27" name="TextBox 26"/>
          <p:cNvSpPr txBox="1"/>
          <p:nvPr/>
        </p:nvSpPr>
        <p:spPr>
          <a:xfrm>
            <a:off x="7086600" y="3438144"/>
            <a:ext cx="4572000" cy="320040"/>
          </a:xfrm>
          <a:prstGeom prst="rect">
            <a:avLst/>
          </a:prstGeom>
          <a:noFill/>
        </p:spPr>
        <p:txBody>
          <a:bodyPr wrap="square" lIns="36576" rIns="36576" tIns="18288" bIns="18288" anchor="t">
            <a:spAutoFit/>
          </a:bodyPr>
          <a:lstStyle/>
          <a:p>
            <a:pPr algn="l"/>
            <a:r>
              <a:rPr sz="1250" b="0">
                <a:solidFill>
                  <a:srgbClr val="0F172A"/>
                </a:solidFill>
                <a:latin typeface="Calibri"/>
              </a:rPr>
              <a:t>Caching</a:t>
            </a:r>
          </a:p>
        </p:txBody>
      </p:sp>
      <p:sp>
        <p:nvSpPr>
          <p:cNvPr id="28" name="Rounded Rectangle 27"/>
          <p:cNvSpPr/>
          <p:nvPr/>
        </p:nvSpPr>
        <p:spPr>
          <a:xfrm>
            <a:off x="6400800" y="3886200"/>
            <a:ext cx="548640" cy="274320"/>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NO</a:t>
            </a:r>
          </a:p>
        </p:txBody>
      </p:sp>
      <p:sp>
        <p:nvSpPr>
          <p:cNvPr id="29" name="TextBox 28"/>
          <p:cNvSpPr txBox="1"/>
          <p:nvPr/>
        </p:nvSpPr>
        <p:spPr>
          <a:xfrm>
            <a:off x="7086600" y="3867912"/>
            <a:ext cx="4572000" cy="320040"/>
          </a:xfrm>
          <a:prstGeom prst="rect">
            <a:avLst/>
          </a:prstGeom>
          <a:noFill/>
        </p:spPr>
        <p:txBody>
          <a:bodyPr wrap="square" lIns="36576" rIns="36576" tIns="18288" bIns="18288" anchor="t">
            <a:spAutoFit/>
          </a:bodyPr>
          <a:lstStyle/>
          <a:p>
            <a:pPr algn="l"/>
            <a:r>
              <a:rPr sz="1250" b="0">
                <a:solidFill>
                  <a:srgbClr val="0F172A"/>
                </a:solidFill>
                <a:latin typeface="Calibri"/>
              </a:rPr>
              <a:t>Retry with backoff</a:t>
            </a:r>
          </a:p>
        </p:txBody>
      </p:sp>
      <p:sp>
        <p:nvSpPr>
          <p:cNvPr id="30" name="Rounded Rectangle 29"/>
          <p:cNvSpPr/>
          <p:nvPr/>
        </p:nvSpPr>
        <p:spPr>
          <a:xfrm>
            <a:off x="6400800" y="4315968"/>
            <a:ext cx="548640" cy="274320"/>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NO</a:t>
            </a:r>
          </a:p>
        </p:txBody>
      </p:sp>
      <p:sp>
        <p:nvSpPr>
          <p:cNvPr id="31" name="TextBox 30"/>
          <p:cNvSpPr txBox="1"/>
          <p:nvPr/>
        </p:nvSpPr>
        <p:spPr>
          <a:xfrm>
            <a:off x="7086600" y="4297680"/>
            <a:ext cx="4572000" cy="320040"/>
          </a:xfrm>
          <a:prstGeom prst="rect">
            <a:avLst/>
          </a:prstGeom>
          <a:noFill/>
        </p:spPr>
        <p:txBody>
          <a:bodyPr wrap="square" lIns="36576" rIns="36576" tIns="18288" bIns="18288" anchor="t">
            <a:spAutoFit/>
          </a:bodyPr>
          <a:lstStyle/>
          <a:p>
            <a:pPr algn="l"/>
            <a:r>
              <a:rPr sz="1250" b="0">
                <a:solidFill>
                  <a:srgbClr val="0F172A"/>
                </a:solidFill>
                <a:latin typeface="Calibri"/>
              </a:rPr>
              <a:t>Explicit timeouts</a:t>
            </a:r>
          </a:p>
        </p:txBody>
      </p:sp>
      <p:sp>
        <p:nvSpPr>
          <p:cNvPr id="32" name="Rounded Rectangle 31"/>
          <p:cNvSpPr/>
          <p:nvPr/>
        </p:nvSpPr>
        <p:spPr>
          <a:xfrm>
            <a:off x="6400800" y="4745736"/>
            <a:ext cx="548640" cy="274320"/>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NO</a:t>
            </a:r>
          </a:p>
        </p:txBody>
      </p:sp>
      <p:sp>
        <p:nvSpPr>
          <p:cNvPr id="33" name="TextBox 32"/>
          <p:cNvSpPr txBox="1"/>
          <p:nvPr/>
        </p:nvSpPr>
        <p:spPr>
          <a:xfrm>
            <a:off x="7086600" y="4727448"/>
            <a:ext cx="4572000" cy="320040"/>
          </a:xfrm>
          <a:prstGeom prst="rect">
            <a:avLst/>
          </a:prstGeom>
          <a:noFill/>
        </p:spPr>
        <p:txBody>
          <a:bodyPr wrap="square" lIns="36576" rIns="36576" tIns="18288" bIns="18288" anchor="t">
            <a:spAutoFit/>
          </a:bodyPr>
          <a:lstStyle/>
          <a:p>
            <a:pPr algn="l"/>
            <a:r>
              <a:rPr sz="1250" b="0">
                <a:solidFill>
                  <a:srgbClr val="0F172A"/>
                </a:solidFill>
                <a:latin typeface="Calibri"/>
              </a:rPr>
              <a:t>Health endpoint</a:t>
            </a:r>
          </a:p>
        </p:txBody>
      </p:sp>
      <p:sp>
        <p:nvSpPr>
          <p:cNvPr id="34" name="Rounded Rectangle 33"/>
          <p:cNvSpPr/>
          <p:nvPr/>
        </p:nvSpPr>
        <p:spPr>
          <a:xfrm>
            <a:off x="6400800" y="5175504"/>
            <a:ext cx="548640" cy="274320"/>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NO</a:t>
            </a:r>
          </a:p>
        </p:txBody>
      </p:sp>
      <p:sp>
        <p:nvSpPr>
          <p:cNvPr id="35" name="TextBox 34"/>
          <p:cNvSpPr txBox="1"/>
          <p:nvPr/>
        </p:nvSpPr>
        <p:spPr>
          <a:xfrm>
            <a:off x="7086600" y="5157216"/>
            <a:ext cx="4572000" cy="320040"/>
          </a:xfrm>
          <a:prstGeom prst="rect">
            <a:avLst/>
          </a:prstGeom>
          <a:noFill/>
        </p:spPr>
        <p:txBody>
          <a:bodyPr wrap="square" lIns="36576" rIns="36576" tIns="18288" bIns="18288" anchor="t">
            <a:spAutoFit/>
          </a:bodyPr>
          <a:lstStyle/>
          <a:p>
            <a:pPr algn="l"/>
            <a:r>
              <a:rPr sz="1250" b="0">
                <a:solidFill>
                  <a:srgbClr val="0F172A"/>
                </a:solidFill>
                <a:latin typeface="Calibri"/>
              </a:rPr>
              <a:t>Graceful shutdown</a:t>
            </a:r>
          </a:p>
        </p:txBody>
      </p:sp>
      <p:sp>
        <p:nvSpPr>
          <p:cNvPr id="36" name="Rounded Rectangle 35"/>
          <p:cNvSpPr/>
          <p:nvPr/>
        </p:nvSpPr>
        <p:spPr>
          <a:xfrm>
            <a:off x="6400800" y="5605272"/>
            <a:ext cx="548640" cy="274320"/>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NO</a:t>
            </a:r>
          </a:p>
        </p:txBody>
      </p:sp>
      <p:sp>
        <p:nvSpPr>
          <p:cNvPr id="37" name="TextBox 36"/>
          <p:cNvSpPr txBox="1"/>
          <p:nvPr/>
        </p:nvSpPr>
        <p:spPr>
          <a:xfrm>
            <a:off x="7086600" y="5586984"/>
            <a:ext cx="4572000" cy="320040"/>
          </a:xfrm>
          <a:prstGeom prst="rect">
            <a:avLst/>
          </a:prstGeom>
          <a:noFill/>
        </p:spPr>
        <p:txBody>
          <a:bodyPr wrap="square" lIns="36576" rIns="36576" tIns="18288" bIns="18288" anchor="t">
            <a:spAutoFit/>
          </a:bodyPr>
          <a:lstStyle/>
          <a:p>
            <a:pPr algn="l"/>
            <a:r>
              <a:rPr sz="1250" b="0">
                <a:solidFill>
                  <a:srgbClr val="0F172A"/>
                </a:solidFill>
                <a:latin typeface="Calibri"/>
              </a:rPr>
              <a:t>Metrics / tracing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274320"/>
          </a:xfrm>
          <a:prstGeom prst="rect">
            <a:avLst/>
          </a:prstGeom>
          <a:noFill/>
        </p:spPr>
        <p:txBody>
          <a:bodyPr wrap="square" lIns="36576" rIns="36576" tIns="18288" bIns="18288" anchor="t">
            <a:spAutoFit/>
          </a:bodyPr>
          <a:lstStyle/>
          <a:p>
            <a:pPr algn="l"/>
            <a:r>
              <a:rPr sz="1050" b="1">
                <a:solidFill>
                  <a:srgbClr val="4338CA"/>
                </a:solidFill>
                <a:latin typeface="Calibri"/>
              </a:rPr>
              <a:t>LONG-TERM OUTLOOK</a:t>
            </a:r>
          </a:p>
        </p:txBody>
      </p:sp>
      <p:sp>
        <p:nvSpPr>
          <p:cNvPr id="4" name="TextBox 3"/>
          <p:cNvSpPr txBox="1"/>
          <p:nvPr/>
        </p:nvSpPr>
        <p:spPr>
          <a:xfrm>
            <a:off x="548640" y="502920"/>
            <a:ext cx="10972800" cy="640080"/>
          </a:xfrm>
          <a:prstGeom prst="rect">
            <a:avLst/>
          </a:prstGeom>
          <a:noFill/>
        </p:spPr>
        <p:txBody>
          <a:bodyPr wrap="square" lIns="36576" rIns="36576" tIns="18288" bIns="18288" anchor="t">
            <a:spAutoFit/>
          </a:bodyPr>
          <a:lstStyle/>
          <a:p>
            <a:pPr algn="l"/>
            <a:r>
              <a:rPr sz="2600" b="1">
                <a:solidFill>
                  <a:srgbClr val="0F172A"/>
                </a:solidFill>
                <a:latin typeface="Calibri"/>
              </a:rPr>
              <a:t>Sustainability &amp; maintainability</a:t>
            </a:r>
          </a:p>
        </p:txBody>
      </p:sp>
      <p:sp>
        <p:nvSpPr>
          <p:cNvPr id="5" name="TextBox 4"/>
          <p:cNvSpPr txBox="1"/>
          <p:nvPr/>
        </p:nvSpPr>
        <p:spPr>
          <a:xfrm>
            <a:off x="548640" y="6473952"/>
            <a:ext cx="7315200" cy="274320"/>
          </a:xfrm>
          <a:prstGeom prst="rect">
            <a:avLst/>
          </a:prstGeom>
          <a:noFill/>
        </p:spPr>
        <p:txBody>
          <a:bodyPr wrap="square" lIns="36576" rIns="36576" tIns="18288" bIns="18288" anchor="t">
            <a:spAutoFit/>
          </a:bodyPr>
          <a:lstStyle/>
          <a:p>
            <a:pPr algn="l"/>
            <a:r>
              <a:rPr sz="900" b="0">
                <a:solidFill>
                  <a:srgbClr val="64748B"/>
                </a:solidFill>
                <a:latin typeface="Calibri"/>
              </a:rPr>
              <a:t>Assay · MCP production readiness audit — orders-mcp (sample) · 16 October 2026, 17:17 · Confidential</a:t>
            </a:r>
          </a:p>
        </p:txBody>
      </p:sp>
      <p:sp>
        <p:nvSpPr>
          <p:cNvPr id="6" name="TextBox 5"/>
          <p:cNvSpPr txBox="1"/>
          <p:nvPr/>
        </p:nvSpPr>
        <p:spPr>
          <a:xfrm>
            <a:off x="10911535" y="6473952"/>
            <a:ext cx="731520" cy="274320"/>
          </a:xfrm>
          <a:prstGeom prst="rect">
            <a:avLst/>
          </a:prstGeom>
          <a:noFill/>
        </p:spPr>
        <p:txBody>
          <a:bodyPr wrap="square" lIns="36576" rIns="36576" tIns="18288" bIns="18288" anchor="t">
            <a:spAutoFit/>
          </a:bodyPr>
          <a:lstStyle/>
          <a:p>
            <a:pPr algn="r"/>
            <a:r>
              <a:rPr sz="900" b="0">
                <a:solidFill>
                  <a:srgbClr val="64748B"/>
                </a:solidFill>
                <a:latin typeface="Calibri"/>
              </a:rPr>
              <a:t>8</a:t>
            </a:r>
          </a:p>
        </p:txBody>
      </p:sp>
      <p:sp>
        <p:nvSpPr>
          <p:cNvPr id="7" name="Rounded Rectangle 6"/>
          <p:cNvSpPr/>
          <p:nvPr/>
        </p:nvSpPr>
        <p:spPr>
          <a:xfrm>
            <a:off x="548640" y="1280160"/>
            <a:ext cx="1737360" cy="1005840"/>
          </a:xfrm>
          <a:prstGeom prst="roundRect">
            <a:avLst>
              <a:gd name="adj" fmla="val 10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53312"/>
            <a:ext cx="1737360" cy="502920"/>
          </a:xfrm>
          <a:prstGeom prst="rect">
            <a:avLst/>
          </a:prstGeom>
          <a:noFill/>
        </p:spPr>
        <p:txBody>
          <a:bodyPr wrap="square" lIns="36576" rIns="36576" tIns="18288" bIns="18288" anchor="t">
            <a:spAutoFit/>
          </a:bodyPr>
          <a:lstStyle/>
          <a:p>
            <a:pPr algn="ctr"/>
            <a:r>
              <a:rPr sz="2200" b="1">
                <a:solidFill>
                  <a:srgbClr val="4338CA"/>
                </a:solidFill>
                <a:latin typeface="Calibri"/>
              </a:rPr>
              <a:t>46%</a:t>
            </a:r>
          </a:p>
        </p:txBody>
      </p:sp>
      <p:sp>
        <p:nvSpPr>
          <p:cNvPr id="9" name="TextBox 8"/>
          <p:cNvSpPr txBox="1"/>
          <p:nvPr/>
        </p:nvSpPr>
        <p:spPr>
          <a:xfrm>
            <a:off x="548640" y="1901952"/>
            <a:ext cx="1737360" cy="274320"/>
          </a:xfrm>
          <a:prstGeom prst="rect">
            <a:avLst/>
          </a:prstGeom>
          <a:noFill/>
        </p:spPr>
        <p:txBody>
          <a:bodyPr wrap="square" lIns="36576" rIns="36576" tIns="18288" bIns="18288" anchor="t">
            <a:spAutoFit/>
          </a:bodyPr>
          <a:lstStyle/>
          <a:p>
            <a:pPr algn="ctr"/>
            <a:r>
              <a:rPr sz="1000" b="0">
                <a:solidFill>
                  <a:srgbClr val="64748B"/>
                </a:solidFill>
                <a:latin typeface="Calibri"/>
              </a:rPr>
              <a:t>Sustainability</a:t>
            </a:r>
          </a:p>
        </p:txBody>
      </p:sp>
      <p:sp>
        <p:nvSpPr>
          <p:cNvPr id="10" name="Rounded Rectangle 9"/>
          <p:cNvSpPr/>
          <p:nvPr/>
        </p:nvSpPr>
        <p:spPr>
          <a:xfrm>
            <a:off x="2423159" y="1280160"/>
            <a:ext cx="1737360" cy="1005840"/>
          </a:xfrm>
          <a:prstGeom prst="roundRect">
            <a:avLst>
              <a:gd name="adj" fmla="val 10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23159" y="1353312"/>
            <a:ext cx="1737360" cy="502920"/>
          </a:xfrm>
          <a:prstGeom prst="rect">
            <a:avLst/>
          </a:prstGeom>
          <a:noFill/>
        </p:spPr>
        <p:txBody>
          <a:bodyPr wrap="square" lIns="36576" rIns="36576" tIns="18288" bIns="18288" anchor="t">
            <a:spAutoFit/>
          </a:bodyPr>
          <a:lstStyle/>
          <a:p>
            <a:pPr algn="ctr"/>
            <a:r>
              <a:rPr sz="2200" b="1">
                <a:solidFill>
                  <a:srgbClr val="0F172A"/>
                </a:solidFill>
                <a:latin typeface="Calibri"/>
              </a:rPr>
              <a:t>62</a:t>
            </a:r>
          </a:p>
        </p:txBody>
      </p:sp>
      <p:sp>
        <p:nvSpPr>
          <p:cNvPr id="12" name="TextBox 11"/>
          <p:cNvSpPr txBox="1"/>
          <p:nvPr/>
        </p:nvSpPr>
        <p:spPr>
          <a:xfrm>
            <a:off x="2423159" y="1901952"/>
            <a:ext cx="1737360" cy="274320"/>
          </a:xfrm>
          <a:prstGeom prst="rect">
            <a:avLst/>
          </a:prstGeom>
          <a:noFill/>
        </p:spPr>
        <p:txBody>
          <a:bodyPr wrap="square" lIns="36576" rIns="36576" tIns="18288" bIns="18288" anchor="t">
            <a:spAutoFit/>
          </a:bodyPr>
          <a:lstStyle/>
          <a:p>
            <a:pPr algn="ctr"/>
            <a:r>
              <a:rPr sz="1000" b="0">
                <a:solidFill>
                  <a:srgbClr val="64748B"/>
                </a:solidFill>
                <a:latin typeface="Calibri"/>
              </a:rPr>
              <a:t>Production LOC</a:t>
            </a:r>
          </a:p>
        </p:txBody>
      </p:sp>
      <p:sp>
        <p:nvSpPr>
          <p:cNvPr id="13" name="Rounded Rectangle 12"/>
          <p:cNvSpPr/>
          <p:nvPr/>
        </p:nvSpPr>
        <p:spPr>
          <a:xfrm>
            <a:off x="4297678" y="1280160"/>
            <a:ext cx="1737360" cy="1005840"/>
          </a:xfrm>
          <a:prstGeom prst="roundRect">
            <a:avLst>
              <a:gd name="adj" fmla="val 10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78" y="1353312"/>
            <a:ext cx="1737360" cy="502920"/>
          </a:xfrm>
          <a:prstGeom prst="rect">
            <a:avLst/>
          </a:prstGeom>
          <a:noFill/>
        </p:spPr>
        <p:txBody>
          <a:bodyPr wrap="square" lIns="36576" rIns="36576" tIns="18288" bIns="18288" anchor="t">
            <a:spAutoFit/>
          </a:bodyPr>
          <a:lstStyle/>
          <a:p>
            <a:pPr algn="ctr"/>
            <a:r>
              <a:rPr sz="2200" b="1">
                <a:solidFill>
                  <a:srgbClr val="0F172A"/>
                </a:solidFill>
                <a:latin typeface="Calibri"/>
              </a:rPr>
              <a:t>0.00</a:t>
            </a:r>
          </a:p>
        </p:txBody>
      </p:sp>
      <p:sp>
        <p:nvSpPr>
          <p:cNvPr id="15" name="TextBox 14"/>
          <p:cNvSpPr txBox="1"/>
          <p:nvPr/>
        </p:nvSpPr>
        <p:spPr>
          <a:xfrm>
            <a:off x="4297678" y="1901952"/>
            <a:ext cx="1737360" cy="274320"/>
          </a:xfrm>
          <a:prstGeom prst="rect">
            <a:avLst/>
          </a:prstGeom>
          <a:noFill/>
        </p:spPr>
        <p:txBody>
          <a:bodyPr wrap="square" lIns="36576" rIns="36576" tIns="18288" bIns="18288" anchor="t">
            <a:spAutoFit/>
          </a:bodyPr>
          <a:lstStyle/>
          <a:p>
            <a:pPr algn="ctr"/>
            <a:r>
              <a:rPr sz="1000" b="0">
                <a:solidFill>
                  <a:srgbClr val="64748B"/>
                </a:solidFill>
                <a:latin typeface="Calibri"/>
              </a:rPr>
              <a:t>Test ratio</a:t>
            </a:r>
          </a:p>
        </p:txBody>
      </p:sp>
      <p:sp>
        <p:nvSpPr>
          <p:cNvPr id="16" name="Rounded Rectangle 15"/>
          <p:cNvSpPr/>
          <p:nvPr/>
        </p:nvSpPr>
        <p:spPr>
          <a:xfrm>
            <a:off x="548640" y="2423160"/>
            <a:ext cx="1737360" cy="1005840"/>
          </a:xfrm>
          <a:prstGeom prst="roundRect">
            <a:avLst>
              <a:gd name="adj" fmla="val 10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496312"/>
            <a:ext cx="1737360" cy="502920"/>
          </a:xfrm>
          <a:prstGeom prst="rect">
            <a:avLst/>
          </a:prstGeom>
          <a:noFill/>
        </p:spPr>
        <p:txBody>
          <a:bodyPr wrap="square" lIns="36576" rIns="36576" tIns="18288" bIns="18288" anchor="t">
            <a:spAutoFit/>
          </a:bodyPr>
          <a:lstStyle/>
          <a:p>
            <a:pPr algn="ctr"/>
            <a:r>
              <a:rPr sz="2200" b="1">
                <a:solidFill>
                  <a:srgbClr val="0F172A"/>
                </a:solidFill>
                <a:latin typeface="Calibri"/>
              </a:rPr>
              <a:t>1.12</a:t>
            </a:r>
          </a:p>
        </p:txBody>
      </p:sp>
      <p:sp>
        <p:nvSpPr>
          <p:cNvPr id="18" name="TextBox 17"/>
          <p:cNvSpPr txBox="1"/>
          <p:nvPr/>
        </p:nvSpPr>
        <p:spPr>
          <a:xfrm>
            <a:off x="548640" y="3044952"/>
            <a:ext cx="1737360" cy="274320"/>
          </a:xfrm>
          <a:prstGeom prst="rect">
            <a:avLst/>
          </a:prstGeom>
          <a:noFill/>
        </p:spPr>
        <p:txBody>
          <a:bodyPr wrap="square" lIns="36576" rIns="36576" tIns="18288" bIns="18288" anchor="t">
            <a:spAutoFit/>
          </a:bodyPr>
          <a:lstStyle/>
          <a:p>
            <a:pPr algn="ctr"/>
            <a:r>
              <a:rPr sz="1000" b="0">
                <a:solidFill>
                  <a:srgbClr val="64748B"/>
                </a:solidFill>
                <a:latin typeface="Calibri"/>
              </a:rPr>
              <a:t>Avg. complexity</a:t>
            </a:r>
          </a:p>
        </p:txBody>
      </p:sp>
      <p:sp>
        <p:nvSpPr>
          <p:cNvPr id="19" name="Rounded Rectangle 18"/>
          <p:cNvSpPr/>
          <p:nvPr/>
        </p:nvSpPr>
        <p:spPr>
          <a:xfrm>
            <a:off x="2423159" y="2423160"/>
            <a:ext cx="1737360" cy="1005840"/>
          </a:xfrm>
          <a:prstGeom prst="roundRect">
            <a:avLst>
              <a:gd name="adj" fmla="val 10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23159" y="2496312"/>
            <a:ext cx="1737360" cy="502920"/>
          </a:xfrm>
          <a:prstGeom prst="rect">
            <a:avLst/>
          </a:prstGeom>
          <a:noFill/>
        </p:spPr>
        <p:txBody>
          <a:bodyPr wrap="square" lIns="36576" rIns="36576" tIns="18288" bIns="18288" anchor="t">
            <a:spAutoFit/>
          </a:bodyPr>
          <a:lstStyle/>
          <a:p>
            <a:pPr algn="ctr"/>
            <a:r>
              <a:rPr sz="2200" b="1">
                <a:solidFill>
                  <a:srgbClr val="0F172A"/>
                </a:solidFill>
                <a:latin typeface="Calibri"/>
              </a:rPr>
              <a:t>none</a:t>
            </a:r>
          </a:p>
        </p:txBody>
      </p:sp>
      <p:sp>
        <p:nvSpPr>
          <p:cNvPr id="21" name="TextBox 20"/>
          <p:cNvSpPr txBox="1"/>
          <p:nvPr/>
        </p:nvSpPr>
        <p:spPr>
          <a:xfrm>
            <a:off x="2423159" y="3044952"/>
            <a:ext cx="1737360" cy="274320"/>
          </a:xfrm>
          <a:prstGeom prst="rect">
            <a:avLst/>
          </a:prstGeom>
          <a:noFill/>
        </p:spPr>
        <p:txBody>
          <a:bodyPr wrap="square" lIns="36576" rIns="36576" tIns="18288" bIns="18288" anchor="t">
            <a:spAutoFit/>
          </a:bodyPr>
          <a:lstStyle/>
          <a:p>
            <a:pPr algn="ctr"/>
            <a:r>
              <a:rPr sz="1000" b="0">
                <a:solidFill>
                  <a:srgbClr val="64748B"/>
                </a:solidFill>
                <a:latin typeface="Calibri"/>
              </a:rPr>
              <a:t>CI</a:t>
            </a:r>
          </a:p>
        </p:txBody>
      </p:sp>
      <p:sp>
        <p:nvSpPr>
          <p:cNvPr id="22" name="Rounded Rectangle 21"/>
          <p:cNvSpPr/>
          <p:nvPr/>
        </p:nvSpPr>
        <p:spPr>
          <a:xfrm>
            <a:off x="4297678" y="2423160"/>
            <a:ext cx="1737360" cy="1005840"/>
          </a:xfrm>
          <a:prstGeom prst="roundRect">
            <a:avLst>
              <a:gd name="adj" fmla="val 10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78" y="2496312"/>
            <a:ext cx="1737360" cy="502920"/>
          </a:xfrm>
          <a:prstGeom prst="rect">
            <a:avLst/>
          </a:prstGeom>
          <a:noFill/>
        </p:spPr>
        <p:txBody>
          <a:bodyPr wrap="square" lIns="36576" rIns="36576" tIns="18288" bIns="18288" anchor="t">
            <a:spAutoFit/>
          </a:bodyPr>
          <a:lstStyle/>
          <a:p>
            <a:pPr algn="ctr"/>
            <a:r>
              <a:rPr sz="2200" b="1">
                <a:solidFill>
                  <a:srgbClr val="0F172A"/>
                </a:solidFill>
                <a:latin typeface="Calibri"/>
              </a:rPr>
              <a:t>n/a</a:t>
            </a:r>
          </a:p>
        </p:txBody>
      </p:sp>
      <p:sp>
        <p:nvSpPr>
          <p:cNvPr id="24" name="TextBox 23"/>
          <p:cNvSpPr txBox="1"/>
          <p:nvPr/>
        </p:nvSpPr>
        <p:spPr>
          <a:xfrm>
            <a:off x="4297678" y="3044952"/>
            <a:ext cx="1737360" cy="274320"/>
          </a:xfrm>
          <a:prstGeom prst="rect">
            <a:avLst/>
          </a:prstGeom>
          <a:noFill/>
        </p:spPr>
        <p:txBody>
          <a:bodyPr wrap="square" lIns="36576" rIns="36576" tIns="18288" bIns="18288" anchor="t">
            <a:spAutoFit/>
          </a:bodyPr>
          <a:lstStyle/>
          <a:p>
            <a:pPr algn="ctr"/>
            <a:r>
              <a:rPr sz="1000" b="0">
                <a:solidFill>
                  <a:srgbClr val="64748B"/>
                </a:solidFill>
                <a:latin typeface="Calibri"/>
              </a:rPr>
              <a:t>Contributors</a:t>
            </a:r>
          </a:p>
        </p:txBody>
      </p:sp>
      <p:sp>
        <p:nvSpPr>
          <p:cNvPr id="25" name="Rounded Rectangle 24"/>
          <p:cNvSpPr/>
          <p:nvPr/>
        </p:nvSpPr>
        <p:spPr>
          <a:xfrm>
            <a:off x="548640" y="3749039"/>
            <a:ext cx="548640" cy="274320"/>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NO</a:t>
            </a:r>
          </a:p>
        </p:txBody>
      </p:sp>
      <p:sp>
        <p:nvSpPr>
          <p:cNvPr id="26" name="TextBox 25"/>
          <p:cNvSpPr txBox="1"/>
          <p:nvPr/>
        </p:nvSpPr>
        <p:spPr>
          <a:xfrm>
            <a:off x="1234440" y="3730751"/>
            <a:ext cx="4114800" cy="320040"/>
          </a:xfrm>
          <a:prstGeom prst="rect">
            <a:avLst/>
          </a:prstGeom>
          <a:noFill/>
        </p:spPr>
        <p:txBody>
          <a:bodyPr wrap="square" lIns="36576" rIns="36576" tIns="18288" bIns="18288" anchor="t">
            <a:spAutoFit/>
          </a:bodyPr>
          <a:lstStyle/>
          <a:p>
            <a:pPr algn="l"/>
            <a:r>
              <a:rPr sz="1250" b="0">
                <a:solidFill>
                  <a:srgbClr val="0F172A"/>
                </a:solidFill>
                <a:latin typeface="Calibri"/>
              </a:rPr>
              <a:t>Automated tests</a:t>
            </a:r>
          </a:p>
        </p:txBody>
      </p:sp>
      <p:sp>
        <p:nvSpPr>
          <p:cNvPr id="27" name="Rounded Rectangle 26"/>
          <p:cNvSpPr/>
          <p:nvPr/>
        </p:nvSpPr>
        <p:spPr>
          <a:xfrm>
            <a:off x="548640" y="4160519"/>
            <a:ext cx="548640" cy="274320"/>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NO</a:t>
            </a:r>
          </a:p>
        </p:txBody>
      </p:sp>
      <p:sp>
        <p:nvSpPr>
          <p:cNvPr id="28" name="TextBox 27"/>
          <p:cNvSpPr txBox="1"/>
          <p:nvPr/>
        </p:nvSpPr>
        <p:spPr>
          <a:xfrm>
            <a:off x="1234440" y="4142231"/>
            <a:ext cx="4114800" cy="320040"/>
          </a:xfrm>
          <a:prstGeom prst="rect">
            <a:avLst/>
          </a:prstGeom>
          <a:noFill/>
        </p:spPr>
        <p:txBody>
          <a:bodyPr wrap="square" lIns="36576" rIns="36576" tIns="18288" bIns="18288" anchor="t">
            <a:spAutoFit/>
          </a:bodyPr>
          <a:lstStyle/>
          <a:p>
            <a:pPr algn="l"/>
            <a:r>
              <a:rPr sz="1250" b="0">
                <a:solidFill>
                  <a:srgbClr val="0F172A"/>
                </a:solidFill>
                <a:latin typeface="Calibri"/>
              </a:rPr>
              <a:t>CI pipeline</a:t>
            </a:r>
          </a:p>
        </p:txBody>
      </p:sp>
      <p:sp>
        <p:nvSpPr>
          <p:cNvPr id="29" name="Rounded Rectangle 28"/>
          <p:cNvSpPr/>
          <p:nvPr/>
        </p:nvSpPr>
        <p:spPr>
          <a:xfrm>
            <a:off x="548640" y="4571999"/>
            <a:ext cx="548640" cy="274320"/>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NO</a:t>
            </a:r>
          </a:p>
        </p:txBody>
      </p:sp>
      <p:sp>
        <p:nvSpPr>
          <p:cNvPr id="30" name="TextBox 29"/>
          <p:cNvSpPr txBox="1"/>
          <p:nvPr/>
        </p:nvSpPr>
        <p:spPr>
          <a:xfrm>
            <a:off x="1234440" y="4553711"/>
            <a:ext cx="4114800" cy="320040"/>
          </a:xfrm>
          <a:prstGeom prst="rect">
            <a:avLst/>
          </a:prstGeom>
          <a:noFill/>
        </p:spPr>
        <p:txBody>
          <a:bodyPr wrap="square" lIns="36576" rIns="36576" tIns="18288" bIns="18288" anchor="t">
            <a:spAutoFit/>
          </a:bodyPr>
          <a:lstStyle/>
          <a:p>
            <a:pPr algn="l"/>
            <a:r>
              <a:rPr sz="1250" b="0">
                <a:solidFill>
                  <a:srgbClr val="0F172A"/>
                </a:solidFill>
                <a:latin typeface="Calibri"/>
              </a:rPr>
              <a:t>Locked dependencies</a:t>
            </a:r>
          </a:p>
        </p:txBody>
      </p:sp>
      <p:sp>
        <p:nvSpPr>
          <p:cNvPr id="31" name="Rounded Rectangle 30"/>
          <p:cNvSpPr/>
          <p:nvPr/>
        </p:nvSpPr>
        <p:spPr>
          <a:xfrm>
            <a:off x="548640" y="4983479"/>
            <a:ext cx="548640" cy="274320"/>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NO</a:t>
            </a:r>
          </a:p>
        </p:txBody>
      </p:sp>
      <p:sp>
        <p:nvSpPr>
          <p:cNvPr id="32" name="TextBox 31"/>
          <p:cNvSpPr txBox="1"/>
          <p:nvPr/>
        </p:nvSpPr>
        <p:spPr>
          <a:xfrm>
            <a:off x="1234440" y="4965191"/>
            <a:ext cx="4114800" cy="320040"/>
          </a:xfrm>
          <a:prstGeom prst="rect">
            <a:avLst/>
          </a:prstGeom>
          <a:noFill/>
        </p:spPr>
        <p:txBody>
          <a:bodyPr wrap="square" lIns="36576" rIns="36576" tIns="18288" bIns="18288" anchor="t">
            <a:spAutoFit/>
          </a:bodyPr>
          <a:lstStyle/>
          <a:p>
            <a:pPr algn="l"/>
            <a:r>
              <a:rPr sz="1250" b="0">
                <a:solidFill>
                  <a:srgbClr val="0F172A"/>
                </a:solidFill>
                <a:latin typeface="Calibri"/>
              </a:rPr>
              <a:t>README / docs</a:t>
            </a:r>
          </a:p>
        </p:txBody>
      </p:sp>
      <p:sp>
        <p:nvSpPr>
          <p:cNvPr id="33" name="Rounded Rectangle 32"/>
          <p:cNvSpPr/>
          <p:nvPr/>
        </p:nvSpPr>
        <p:spPr>
          <a:xfrm>
            <a:off x="548640" y="5394959"/>
            <a:ext cx="548640" cy="274320"/>
          </a:xfrm>
          <a:prstGeom prst="roundRect">
            <a:avLst>
              <a:gd name="adj" fmla="val 25000"/>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YES</a:t>
            </a:r>
          </a:p>
        </p:txBody>
      </p:sp>
      <p:sp>
        <p:nvSpPr>
          <p:cNvPr id="34" name="TextBox 33"/>
          <p:cNvSpPr txBox="1"/>
          <p:nvPr/>
        </p:nvSpPr>
        <p:spPr>
          <a:xfrm>
            <a:off x="1234440" y="5376671"/>
            <a:ext cx="4114800" cy="320040"/>
          </a:xfrm>
          <a:prstGeom prst="rect">
            <a:avLst/>
          </a:prstGeom>
          <a:noFill/>
        </p:spPr>
        <p:txBody>
          <a:bodyPr wrap="square" lIns="36576" rIns="36576" tIns="18288" bIns="18288" anchor="t">
            <a:spAutoFit/>
          </a:bodyPr>
          <a:lstStyle/>
          <a:p>
            <a:pPr algn="l"/>
            <a:r>
              <a:rPr sz="1250" b="0">
                <a:solidFill>
                  <a:srgbClr val="0F172A"/>
                </a:solidFill>
                <a:latin typeface="Calibri"/>
              </a:rPr>
              <a:t>Container image</a:t>
            </a:r>
          </a:p>
        </p:txBody>
      </p:sp>
      <p:sp>
        <p:nvSpPr>
          <p:cNvPr id="35" name="Rounded Rectangle 34"/>
          <p:cNvSpPr/>
          <p:nvPr/>
        </p:nvSpPr>
        <p:spPr>
          <a:xfrm>
            <a:off x="548640" y="5806439"/>
            <a:ext cx="548640" cy="274320"/>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rPr>
              <a:t>NO</a:t>
            </a:r>
          </a:p>
        </p:txBody>
      </p:sp>
      <p:sp>
        <p:nvSpPr>
          <p:cNvPr id="36" name="TextBox 35"/>
          <p:cNvSpPr txBox="1"/>
          <p:nvPr/>
        </p:nvSpPr>
        <p:spPr>
          <a:xfrm>
            <a:off x="1234440" y="5788151"/>
            <a:ext cx="4114800" cy="320040"/>
          </a:xfrm>
          <a:prstGeom prst="rect">
            <a:avLst/>
          </a:prstGeom>
          <a:noFill/>
        </p:spPr>
        <p:txBody>
          <a:bodyPr wrap="square" lIns="36576" rIns="36576" tIns="18288" bIns="18288" anchor="t">
            <a:spAutoFit/>
          </a:bodyPr>
          <a:lstStyle/>
          <a:p>
            <a:pPr algn="l"/>
            <a:r>
              <a:rPr sz="1250" b="0">
                <a:solidFill>
                  <a:srgbClr val="0F172A"/>
                </a:solidFill>
                <a:latin typeface="Calibri"/>
              </a:rPr>
              <a:t>Changelog</a:t>
            </a:r>
          </a:p>
        </p:txBody>
      </p:sp>
      <p:sp>
        <p:nvSpPr>
          <p:cNvPr id="37" name="TextBox 36"/>
          <p:cNvSpPr txBox="1"/>
          <p:nvPr/>
        </p:nvSpPr>
        <p:spPr>
          <a:xfrm>
            <a:off x="6309360" y="1280160"/>
            <a:ext cx="5394960" cy="4754880"/>
          </a:xfrm>
          <a:prstGeom prst="rect">
            <a:avLst/>
          </a:prstGeom>
          <a:noFill/>
        </p:spPr>
        <p:txBody>
          <a:bodyPr wrap="square" lIns="36576" rIns="36576" tIns="18288" bIns="18288" anchor="t">
            <a:spAutoFit/>
          </a:bodyPr>
          <a:lstStyle/>
          <a:p>
            <a:pPr algn="l"/>
            <a:r>
              <a:rPr sz="1300" b="0">
                <a:solidFill>
                  <a:srgbClr val="0F172A"/>
                </a:solidFill>
                <a:latin typeface="Calibri"/>
              </a:rPr>
              <a:t>The server lacks proper documentation, CI/CD pipeline, and dependency locking, which hampers maintainability and knowledge concentration. Implementing these practices will improve the sustainability of the codebase over 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274320"/>
          </a:xfrm>
          <a:prstGeom prst="rect">
            <a:avLst/>
          </a:prstGeom>
          <a:noFill/>
        </p:spPr>
        <p:txBody>
          <a:bodyPr wrap="square" lIns="36576" rIns="36576" tIns="18288" bIns="18288" anchor="t">
            <a:spAutoFit/>
          </a:bodyPr>
          <a:lstStyle/>
          <a:p>
            <a:pPr algn="l"/>
            <a:r>
              <a:rPr sz="1050" b="1">
                <a:solidFill>
                  <a:srgbClr val="4338CA"/>
                </a:solidFill>
                <a:latin typeface="Calibri"/>
              </a:rPr>
              <a:t>ACTION PLAN</a:t>
            </a:r>
          </a:p>
        </p:txBody>
      </p:sp>
      <p:sp>
        <p:nvSpPr>
          <p:cNvPr id="4" name="TextBox 3"/>
          <p:cNvSpPr txBox="1"/>
          <p:nvPr/>
        </p:nvSpPr>
        <p:spPr>
          <a:xfrm>
            <a:off x="548640" y="502920"/>
            <a:ext cx="10972800" cy="640080"/>
          </a:xfrm>
          <a:prstGeom prst="rect">
            <a:avLst/>
          </a:prstGeom>
          <a:noFill/>
        </p:spPr>
        <p:txBody>
          <a:bodyPr wrap="square" lIns="36576" rIns="36576" tIns="18288" bIns="18288" anchor="t">
            <a:spAutoFit/>
          </a:bodyPr>
          <a:lstStyle/>
          <a:p>
            <a:pPr algn="l"/>
            <a:r>
              <a:rPr sz="2600" b="1">
                <a:solidFill>
                  <a:srgbClr val="0F172A"/>
                </a:solidFill>
                <a:latin typeface="Calibri"/>
              </a:rPr>
              <a:t>Remediation roadmap</a:t>
            </a:r>
          </a:p>
        </p:txBody>
      </p:sp>
      <p:sp>
        <p:nvSpPr>
          <p:cNvPr id="5" name="TextBox 4"/>
          <p:cNvSpPr txBox="1"/>
          <p:nvPr/>
        </p:nvSpPr>
        <p:spPr>
          <a:xfrm>
            <a:off x="548640" y="6473952"/>
            <a:ext cx="7315200" cy="274320"/>
          </a:xfrm>
          <a:prstGeom prst="rect">
            <a:avLst/>
          </a:prstGeom>
          <a:noFill/>
        </p:spPr>
        <p:txBody>
          <a:bodyPr wrap="square" lIns="36576" rIns="36576" tIns="18288" bIns="18288" anchor="t">
            <a:spAutoFit/>
          </a:bodyPr>
          <a:lstStyle/>
          <a:p>
            <a:pPr algn="l"/>
            <a:r>
              <a:rPr sz="900" b="0">
                <a:solidFill>
                  <a:srgbClr val="64748B"/>
                </a:solidFill>
                <a:latin typeface="Calibri"/>
              </a:rPr>
              <a:t>Assay · MCP production readiness audit — orders-mcp (sample) · 16 October 2026, 17:17 · Confidential</a:t>
            </a:r>
          </a:p>
        </p:txBody>
      </p:sp>
      <p:sp>
        <p:nvSpPr>
          <p:cNvPr id="6" name="TextBox 5"/>
          <p:cNvSpPr txBox="1"/>
          <p:nvPr/>
        </p:nvSpPr>
        <p:spPr>
          <a:xfrm>
            <a:off x="10911535" y="6473952"/>
            <a:ext cx="731520" cy="274320"/>
          </a:xfrm>
          <a:prstGeom prst="rect">
            <a:avLst/>
          </a:prstGeom>
          <a:noFill/>
        </p:spPr>
        <p:txBody>
          <a:bodyPr wrap="square" lIns="36576" rIns="36576" tIns="18288" bIns="18288" anchor="t">
            <a:spAutoFit/>
          </a:bodyPr>
          <a:lstStyle/>
          <a:p>
            <a:pPr algn="r"/>
            <a:r>
              <a:rPr sz="900" b="0">
                <a:solidFill>
                  <a:srgbClr val="64748B"/>
                </a:solidFill>
                <a:latin typeface="Calibri"/>
              </a:rPr>
              <a:t>9</a:t>
            </a:r>
          </a:p>
        </p:txBody>
      </p:sp>
      <p:sp>
        <p:nvSpPr>
          <p:cNvPr id="7" name="Rounded Rectangle 6"/>
          <p:cNvSpPr/>
          <p:nvPr/>
        </p:nvSpPr>
        <p:spPr>
          <a:xfrm>
            <a:off x="548640" y="1280160"/>
            <a:ext cx="2651760" cy="502920"/>
          </a:xfrm>
          <a:prstGeom prst="roundRect">
            <a:avLst>
              <a:gd name="adj" fmla="val 12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25880"/>
            <a:ext cx="2651760" cy="411480"/>
          </a:xfrm>
          <a:prstGeom prst="rect">
            <a:avLst/>
          </a:prstGeom>
          <a:noFill/>
        </p:spPr>
        <p:txBody>
          <a:bodyPr wrap="square" lIns="36576" rIns="36576" tIns="18288" bIns="18288" anchor="ctr">
            <a:spAutoFit/>
          </a:bodyPr>
          <a:lstStyle/>
          <a:p>
            <a:pPr algn="ctr"/>
            <a:r>
              <a:rPr sz="1300" b="1">
                <a:solidFill>
                  <a:srgbClr val="FFFFFF"/>
                </a:solidFill>
                <a:latin typeface="Calibri"/>
              </a:rPr>
              <a:t>P0 · Before go-live (12)</a:t>
            </a:r>
          </a:p>
        </p:txBody>
      </p:sp>
      <p:sp>
        <p:nvSpPr>
          <p:cNvPr id="9" name="Rectangle 8"/>
          <p:cNvSpPr/>
          <p:nvPr/>
        </p:nvSpPr>
        <p:spPr>
          <a:xfrm>
            <a:off x="548640" y="1874519"/>
            <a:ext cx="2651760" cy="429768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938528"/>
            <a:ext cx="2514600" cy="4206240"/>
          </a:xfrm>
          <a:prstGeom prst="rect">
            <a:avLst/>
          </a:prstGeom>
          <a:noFill/>
        </p:spPr>
        <p:txBody>
          <a:bodyPr wrap="square">
            <a:spAutoFit/>
          </a:bodyPr>
          <a:lstStyle/>
          <a:p>
            <a:pPr>
              <a:spcAft>
                <a:spcPts val="300"/>
              </a:spcAft>
            </a:pPr>
            <a:r>
              <a:rPr sz="1050">
                <a:solidFill>
                  <a:srgbClr val="0F172A"/>
                </a:solidFill>
                <a:latin typeface="Calibri"/>
              </a:rPr>
              <a:t>•  Hard-coded secret or credential (3×) · S</a:t>
            </a:r>
          </a:p>
          <a:p>
            <a:pPr>
              <a:spcAft>
                <a:spcPts val="300"/>
              </a:spcAft>
            </a:pPr>
            <a:r>
              <a:rPr sz="1050">
                <a:solidFill>
                  <a:srgbClr val="0F172A"/>
                </a:solidFill>
                <a:latin typeface="Calibri"/>
              </a:rPr>
              <a:t>•  Tool poisoning: hidden instructions in tool… (2×) · S</a:t>
            </a:r>
          </a:p>
          <a:p>
            <a:pPr>
              <a:spcAft>
                <a:spcPts val="300"/>
              </a:spcAft>
            </a:pPr>
            <a:r>
              <a:rPr sz="1050">
                <a:solidFill>
                  <a:srgbClr val="0F172A"/>
                </a:solidFill>
                <a:latin typeface="Calibri"/>
              </a:rPr>
              <a:t>•  Remote MCP transport without authentication · L</a:t>
            </a:r>
          </a:p>
          <a:p>
            <a:pPr>
              <a:spcAft>
                <a:spcPts val="300"/>
              </a:spcAft>
            </a:pPr>
            <a:r>
              <a:rPr sz="1050">
                <a:solidFill>
                  <a:srgbClr val="0F172A"/>
                </a:solidFill>
                <a:latin typeface="Calibri"/>
              </a:rPr>
              <a:t>•  OS command injection · M</a:t>
            </a:r>
          </a:p>
          <a:p>
            <a:pPr>
              <a:spcAft>
                <a:spcPts val="300"/>
              </a:spcAft>
            </a:pPr>
            <a:r>
              <a:rPr sz="1050">
                <a:solidFill>
                  <a:srgbClr val="0F172A"/>
                </a:solidFill>
                <a:latin typeface="Calibri"/>
              </a:rPr>
              <a:t>•  Dynamic code evaluation · M</a:t>
            </a:r>
          </a:p>
          <a:p>
            <a:pPr>
              <a:spcAft>
                <a:spcPts val="300"/>
              </a:spcAft>
            </a:pPr>
            <a:r>
              <a:rPr sz="1050">
                <a:solidFill>
                  <a:srgbClr val="0F172A"/>
                </a:solidFill>
                <a:latin typeface="Calibri"/>
              </a:rPr>
              <a:t>•  Tool grants arbitrary execution capability (3×) · L</a:t>
            </a:r>
          </a:p>
          <a:p>
            <a:pPr>
              <a:spcAft>
                <a:spcPts val="300"/>
              </a:spcAft>
            </a:pPr>
            <a:r>
              <a:rPr sz="1050">
                <a:solidFill>
                  <a:srgbClr val="0F172A"/>
                </a:solidFill>
                <a:latin typeface="Calibri"/>
              </a:rPr>
              <a:t>•  SQL built by string formatting (2×) · S</a:t>
            </a:r>
          </a:p>
          <a:p>
            <a:pPr>
              <a:spcAft>
                <a:spcPts val="300"/>
              </a:spcAft>
            </a:pPr>
            <a:r>
              <a:rPr sz="1050">
                <a:solidFill>
                  <a:srgbClr val="0F172A"/>
                </a:solidFill>
                <a:latin typeface="Calibri"/>
              </a:rPr>
              <a:t>•  Insecure deserialization (2×) · S</a:t>
            </a:r>
          </a:p>
          <a:p>
            <a:pPr>
              <a:spcAft>
                <a:spcPts val="300"/>
              </a:spcAft>
            </a:pPr>
            <a:r>
              <a:rPr sz="1050">
                <a:solidFill>
                  <a:srgbClr val="0F172A"/>
                </a:solidFill>
                <a:latin typeface="Calibri"/>
              </a:rPr>
              <a:t>•  Committed environment or key file · S</a:t>
            </a:r>
          </a:p>
          <a:p>
            <a:pPr>
              <a:spcAft>
                <a:spcPts val="300"/>
              </a:spcAft>
            </a:pPr>
            <a:r>
              <a:rPr sz="1050">
                <a:solidFill>
                  <a:srgbClr val="0F172A"/>
                </a:solidFill>
                <a:latin typeface="Calibri"/>
              </a:rPr>
              <a:t>•  + 3 more</a:t>
            </a:r>
          </a:p>
        </p:txBody>
      </p:sp>
      <p:sp>
        <p:nvSpPr>
          <p:cNvPr id="11" name="Rounded Rectangle 10"/>
          <p:cNvSpPr/>
          <p:nvPr/>
        </p:nvSpPr>
        <p:spPr>
          <a:xfrm>
            <a:off x="3364992" y="1280160"/>
            <a:ext cx="2651760" cy="502920"/>
          </a:xfrm>
          <a:prstGeom prst="roundRect">
            <a:avLst>
              <a:gd name="adj" fmla="val 12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64992" y="1325880"/>
            <a:ext cx="2651760" cy="411480"/>
          </a:xfrm>
          <a:prstGeom prst="rect">
            <a:avLst/>
          </a:prstGeom>
          <a:noFill/>
        </p:spPr>
        <p:txBody>
          <a:bodyPr wrap="square" lIns="36576" rIns="36576" tIns="18288" bIns="18288" anchor="ctr">
            <a:spAutoFit/>
          </a:bodyPr>
          <a:lstStyle/>
          <a:p>
            <a:pPr algn="ctr"/>
            <a:r>
              <a:rPr sz="1300" b="1">
                <a:solidFill>
                  <a:srgbClr val="FFFFFF"/>
                </a:solidFill>
                <a:latin typeface="Calibri"/>
              </a:rPr>
              <a:t>P1 · ≤ 30 days (9)</a:t>
            </a:r>
          </a:p>
        </p:txBody>
      </p:sp>
      <p:sp>
        <p:nvSpPr>
          <p:cNvPr id="13" name="Rectangle 12"/>
          <p:cNvSpPr/>
          <p:nvPr/>
        </p:nvSpPr>
        <p:spPr>
          <a:xfrm>
            <a:off x="3364992" y="1874519"/>
            <a:ext cx="2651760" cy="429768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38144" y="1938528"/>
            <a:ext cx="2514600" cy="4206240"/>
          </a:xfrm>
          <a:prstGeom prst="rect">
            <a:avLst/>
          </a:prstGeom>
          <a:noFill/>
        </p:spPr>
        <p:txBody>
          <a:bodyPr wrap="square">
            <a:spAutoFit/>
          </a:bodyPr>
          <a:lstStyle/>
          <a:p>
            <a:pPr>
              <a:spcAft>
                <a:spcPts val="300"/>
              </a:spcAft>
            </a:pPr>
            <a:r>
              <a:rPr sz="1050">
                <a:solidFill>
                  <a:srgbClr val="0F172A"/>
                </a:solidFill>
                <a:latin typeface="Calibri"/>
              </a:rPr>
              <a:t>•  Blocking call inside async handler (5×) · M</a:t>
            </a:r>
          </a:p>
          <a:p>
            <a:pPr>
              <a:spcAft>
                <a:spcPts val="300"/>
              </a:spcAft>
            </a:pPr>
            <a:r>
              <a:rPr sz="1050">
                <a:solidFill>
                  <a:srgbClr val="0F172A"/>
                </a:solidFill>
                <a:latin typeface="Calibri"/>
              </a:rPr>
              <a:t>•  Blocking I/O (2×) · M</a:t>
            </a:r>
          </a:p>
          <a:p>
            <a:pPr>
              <a:spcAft>
                <a:spcPts val="300"/>
              </a:spcAft>
            </a:pPr>
            <a:r>
              <a:rPr sz="1050">
                <a:solidFill>
                  <a:srgbClr val="0F172A"/>
                </a:solidFill>
                <a:latin typeface="Calibri"/>
              </a:rPr>
              <a:t>•  Missing authorization or tenant isolation (2×) · M</a:t>
            </a:r>
          </a:p>
          <a:p>
            <a:pPr>
              <a:spcAft>
                <a:spcPts val="300"/>
              </a:spcAft>
            </a:pPr>
            <a:r>
              <a:rPr sz="1050">
                <a:solidFill>
                  <a:srgbClr val="0F172A"/>
                </a:solidFill>
                <a:latin typeface="Calibri"/>
              </a:rPr>
              <a:t>•  No automated tests · L</a:t>
            </a:r>
          </a:p>
          <a:p>
            <a:pPr>
              <a:spcAft>
                <a:spcPts val="300"/>
              </a:spcAft>
            </a:pPr>
            <a:r>
              <a:rPr sz="1050">
                <a:solidFill>
                  <a:srgbClr val="0F172A"/>
                </a:solidFill>
                <a:latin typeface="Calibri"/>
              </a:rPr>
              <a:t>•  State-changing tool without behaviour… (3×) · S</a:t>
            </a:r>
          </a:p>
          <a:p>
            <a:pPr>
              <a:spcAft>
                <a:spcPts val="300"/>
              </a:spcAft>
            </a:pPr>
            <a:r>
              <a:rPr sz="1050">
                <a:solidFill>
                  <a:srgbClr val="0F172A"/>
                </a:solidFill>
                <a:latin typeface="Calibri"/>
              </a:rPr>
              <a:t>•  Outdated MCP SDK version · S</a:t>
            </a:r>
          </a:p>
          <a:p>
            <a:pPr>
              <a:spcAft>
                <a:spcPts val="300"/>
              </a:spcAft>
            </a:pPr>
            <a:r>
              <a:rPr sz="1050">
                <a:solidFill>
                  <a:srgbClr val="0F172A"/>
                </a:solidFill>
                <a:latin typeface="Calibri"/>
              </a:rPr>
              <a:t>•  Container runs as root · S</a:t>
            </a:r>
          </a:p>
          <a:p>
            <a:pPr>
              <a:spcAft>
                <a:spcPts val="300"/>
              </a:spcAft>
            </a:pPr>
            <a:r>
              <a:rPr sz="1050">
                <a:solidFill>
                  <a:srgbClr val="0F172A"/>
                </a:solidFill>
                <a:latin typeface="Calibri"/>
              </a:rPr>
              <a:t>•  Server binds to all network interfaces · S</a:t>
            </a:r>
          </a:p>
          <a:p>
            <a:pPr>
              <a:spcAft>
                <a:spcPts val="300"/>
              </a:spcAft>
            </a:pPr>
            <a:r>
              <a:rPr sz="1050">
                <a:solidFill>
                  <a:srgbClr val="0F172A"/>
                </a:solidFill>
                <a:latin typeface="Calibri"/>
              </a:rPr>
              <a:t>•  Untrusted external content returned to the… · M</a:t>
            </a:r>
          </a:p>
        </p:txBody>
      </p:sp>
      <p:sp>
        <p:nvSpPr>
          <p:cNvPr id="15" name="Rounded Rectangle 14"/>
          <p:cNvSpPr/>
          <p:nvPr/>
        </p:nvSpPr>
        <p:spPr>
          <a:xfrm>
            <a:off x="6181344" y="1280160"/>
            <a:ext cx="2651760" cy="502920"/>
          </a:xfrm>
          <a:prstGeom prst="roundRect">
            <a:avLst>
              <a:gd name="adj" fmla="val 12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81344" y="1325880"/>
            <a:ext cx="2651760" cy="411480"/>
          </a:xfrm>
          <a:prstGeom prst="rect">
            <a:avLst/>
          </a:prstGeom>
          <a:noFill/>
        </p:spPr>
        <p:txBody>
          <a:bodyPr wrap="square" lIns="36576" rIns="36576" tIns="18288" bIns="18288" anchor="ctr">
            <a:spAutoFit/>
          </a:bodyPr>
          <a:lstStyle/>
          <a:p>
            <a:pPr algn="ctr"/>
            <a:r>
              <a:rPr sz="1300" b="1">
                <a:solidFill>
                  <a:srgbClr val="FFFFFF"/>
                </a:solidFill>
                <a:latin typeface="Calibri"/>
              </a:rPr>
              <a:t>P2 · ≤ 90 days (11)</a:t>
            </a:r>
          </a:p>
        </p:txBody>
      </p:sp>
      <p:sp>
        <p:nvSpPr>
          <p:cNvPr id="17" name="Rectangle 16"/>
          <p:cNvSpPr/>
          <p:nvPr/>
        </p:nvSpPr>
        <p:spPr>
          <a:xfrm>
            <a:off x="6181344" y="1874519"/>
            <a:ext cx="2651760" cy="429768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4496" y="1938528"/>
            <a:ext cx="2514600" cy="4206240"/>
          </a:xfrm>
          <a:prstGeom prst="rect">
            <a:avLst/>
          </a:prstGeom>
          <a:noFill/>
        </p:spPr>
        <p:txBody>
          <a:bodyPr wrap="square">
            <a:spAutoFit/>
          </a:bodyPr>
          <a:lstStyle/>
          <a:p>
            <a:pPr>
              <a:spcAft>
                <a:spcPts val="300"/>
              </a:spcAft>
            </a:pPr>
            <a:r>
              <a:rPr sz="1050">
                <a:solidFill>
                  <a:srgbClr val="0F172A"/>
                </a:solidFill>
                <a:latin typeface="Calibri"/>
              </a:rPr>
              <a:t>•  Instruction-like Content in Tool Metadata (2×) · M</a:t>
            </a:r>
          </a:p>
          <a:p>
            <a:pPr>
              <a:spcAft>
                <a:spcPts val="300"/>
              </a:spcAft>
            </a:pPr>
            <a:r>
              <a:rPr sz="1050">
                <a:solidFill>
                  <a:srgbClr val="0F172A"/>
                </a:solidFill>
                <a:latin typeface="Calibri"/>
              </a:rPr>
              <a:t>•  No continuous integration pipeline · M</a:t>
            </a:r>
          </a:p>
          <a:p>
            <a:pPr>
              <a:spcAft>
                <a:spcPts val="300"/>
              </a:spcAft>
            </a:pPr>
            <a:r>
              <a:rPr sz="1050">
                <a:solidFill>
                  <a:srgbClr val="0F172A"/>
                </a:solidFill>
                <a:latin typeface="Calibri"/>
              </a:rPr>
              <a:t>•  Missing README / operating documentation · S</a:t>
            </a:r>
          </a:p>
          <a:p>
            <a:pPr>
              <a:spcAft>
                <a:spcPts val="300"/>
              </a:spcAft>
            </a:pPr>
            <a:r>
              <a:rPr sz="1050">
                <a:solidFill>
                  <a:srgbClr val="0F172A"/>
                </a:solidFill>
                <a:latin typeface="Calibri"/>
              </a:rPr>
              <a:t>•  Dependencies not locked · S</a:t>
            </a:r>
          </a:p>
          <a:p>
            <a:pPr>
              <a:spcAft>
                <a:spcPts val="300"/>
              </a:spcAft>
            </a:pPr>
            <a:r>
              <a:rPr sz="1050">
                <a:solidFill>
                  <a:srgbClr val="0F172A"/>
                </a:solidFill>
                <a:latin typeface="Calibri"/>
              </a:rPr>
              <a:t>•  No audit trail of tool invocations · M</a:t>
            </a:r>
          </a:p>
          <a:p>
            <a:pPr>
              <a:spcAft>
                <a:spcPts val="300"/>
              </a:spcAft>
            </a:pPr>
            <a:r>
              <a:rPr sz="1050">
                <a:solidFill>
                  <a:srgbClr val="0F172A"/>
                </a:solidFill>
                <a:latin typeface="Calibri"/>
              </a:rPr>
              <a:t>•  No structured logging · S</a:t>
            </a:r>
          </a:p>
          <a:p>
            <a:pPr>
              <a:spcAft>
                <a:spcPts val="300"/>
              </a:spcAft>
            </a:pPr>
            <a:r>
              <a:rPr sz="1050">
                <a:solidFill>
                  <a:srgbClr val="0F172A"/>
                </a:solidFill>
                <a:latin typeface="Calibri"/>
              </a:rPr>
              <a:t>•  Unbounded tool output · S</a:t>
            </a:r>
          </a:p>
          <a:p>
            <a:pPr>
              <a:spcAft>
                <a:spcPts val="300"/>
              </a:spcAft>
            </a:pPr>
            <a:r>
              <a:rPr sz="1050">
                <a:solidFill>
                  <a:srgbClr val="0F172A"/>
                </a:solidFill>
                <a:latin typeface="Calibri"/>
              </a:rPr>
              <a:t>•  Outbound call without timeout · S</a:t>
            </a:r>
          </a:p>
          <a:p>
            <a:pPr>
              <a:spcAft>
                <a:spcPts val="300"/>
              </a:spcAft>
            </a:pPr>
            <a:r>
              <a:rPr sz="1050">
                <a:solidFill>
                  <a:srgbClr val="0F172A"/>
                </a:solidFill>
                <a:latin typeface="Calibri"/>
              </a:rPr>
              <a:t>•  No rate limiting or quota · M</a:t>
            </a:r>
          </a:p>
          <a:p>
            <a:pPr>
              <a:spcAft>
                <a:spcPts val="300"/>
              </a:spcAft>
            </a:pPr>
            <a:r>
              <a:rPr sz="1050">
                <a:solidFill>
                  <a:srgbClr val="0F172A"/>
                </a:solidFill>
                <a:latin typeface="Calibri"/>
              </a:rPr>
              <a:t>•  + 2 more</a:t>
            </a:r>
          </a:p>
        </p:txBody>
      </p:sp>
      <p:sp>
        <p:nvSpPr>
          <p:cNvPr id="19" name="Rounded Rectangle 18"/>
          <p:cNvSpPr/>
          <p:nvPr/>
        </p:nvSpPr>
        <p:spPr>
          <a:xfrm>
            <a:off x="8997696" y="1280160"/>
            <a:ext cx="2651760" cy="502920"/>
          </a:xfrm>
          <a:prstGeom prst="roundRect">
            <a:avLst>
              <a:gd name="adj" fmla="val 12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97696" y="1325880"/>
            <a:ext cx="2651760" cy="411480"/>
          </a:xfrm>
          <a:prstGeom prst="rect">
            <a:avLst/>
          </a:prstGeom>
          <a:noFill/>
        </p:spPr>
        <p:txBody>
          <a:bodyPr wrap="square" lIns="36576" rIns="36576" tIns="18288" bIns="18288" anchor="ctr">
            <a:spAutoFit/>
          </a:bodyPr>
          <a:lstStyle/>
          <a:p>
            <a:pPr algn="ctr"/>
            <a:r>
              <a:rPr sz="1300" b="1">
                <a:solidFill>
                  <a:srgbClr val="FFFFFF"/>
                </a:solidFill>
                <a:latin typeface="Calibri"/>
              </a:rPr>
              <a:t>P3 · Backlog (12)</a:t>
            </a:r>
          </a:p>
        </p:txBody>
      </p:sp>
      <p:sp>
        <p:nvSpPr>
          <p:cNvPr id="21" name="Rectangle 20"/>
          <p:cNvSpPr/>
          <p:nvPr/>
        </p:nvSpPr>
        <p:spPr>
          <a:xfrm>
            <a:off x="8997696" y="1874519"/>
            <a:ext cx="2651760" cy="429768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70848" y="1938528"/>
            <a:ext cx="2514600" cy="4206240"/>
          </a:xfrm>
          <a:prstGeom prst="rect">
            <a:avLst/>
          </a:prstGeom>
          <a:noFill/>
        </p:spPr>
        <p:txBody>
          <a:bodyPr wrap="square">
            <a:spAutoFit/>
          </a:bodyPr>
          <a:lstStyle/>
          <a:p>
            <a:pPr>
              <a:spcAft>
                <a:spcPts val="300"/>
              </a:spcAft>
            </a:pPr>
            <a:r>
              <a:rPr sz="1050">
                <a:solidFill>
                  <a:srgbClr val="0F172A"/>
                </a:solidFill>
                <a:latin typeface="Calibri"/>
              </a:rPr>
              <a:t>•  Missing or weak tool description (4×) · S</a:t>
            </a:r>
          </a:p>
          <a:p>
            <a:pPr>
              <a:spcAft>
                <a:spcPts val="300"/>
              </a:spcAft>
            </a:pPr>
            <a:r>
              <a:rPr sz="1050">
                <a:solidFill>
                  <a:srgbClr val="0F172A"/>
                </a:solidFill>
                <a:latin typeface="Calibri"/>
              </a:rPr>
              <a:t>•  Error handling (2×) · M</a:t>
            </a:r>
          </a:p>
          <a:p>
            <a:pPr>
              <a:spcAft>
                <a:spcPts val="300"/>
              </a:spcAft>
            </a:pPr>
            <a:r>
              <a:rPr sz="1050">
                <a:solidFill>
                  <a:srgbClr val="0F172A"/>
                </a:solidFill>
                <a:latin typeface="Calibri"/>
              </a:rPr>
              <a:t>•  Local file system used as state store (2×) · M</a:t>
            </a:r>
          </a:p>
          <a:p>
            <a:pPr>
              <a:spcAft>
                <a:spcPts val="300"/>
              </a:spcAft>
            </a:pPr>
            <a:r>
              <a:rPr sz="1050">
                <a:solidFill>
                  <a:srgbClr val="0F172A"/>
                </a:solidFill>
                <a:latin typeface="Calibri"/>
              </a:rPr>
              <a:t>•  No lint / type-check configuration · S</a:t>
            </a:r>
          </a:p>
          <a:p>
            <a:pPr>
              <a:spcAft>
                <a:spcPts val="300"/>
              </a:spcAft>
            </a:pPr>
            <a:r>
              <a:rPr sz="1050">
                <a:solidFill>
                  <a:srgbClr val="0F172A"/>
                </a:solidFill>
                <a:latin typeface="Calibri"/>
              </a:rPr>
              <a:t>•  Unpinned or mutable container base image · S</a:t>
            </a:r>
          </a:p>
          <a:p>
            <a:pPr>
              <a:spcAft>
                <a:spcPts val="300"/>
              </a:spcAft>
            </a:pPr>
            <a:r>
              <a:rPr sz="1050">
                <a:solidFill>
                  <a:srgbClr val="0F172A"/>
                </a:solidFill>
                <a:latin typeface="Calibri"/>
              </a:rPr>
              <a:t>•  No metrics or tracing · M</a:t>
            </a:r>
          </a:p>
          <a:p>
            <a:pPr>
              <a:spcAft>
                <a:spcPts val="300"/>
              </a:spcAft>
            </a:pPr>
            <a:r>
              <a:rPr sz="1050">
                <a:solidFill>
                  <a:srgbClr val="0F172A"/>
                </a:solidFill>
                <a:latin typeface="Calibri"/>
              </a:rPr>
              <a:t>•  No health or readiness endpoint · S</a:t>
            </a:r>
          </a:p>
          <a:p>
            <a:pPr>
              <a:spcAft>
                <a:spcPts val="300"/>
              </a:spcAft>
            </a:pPr>
            <a:r>
              <a:rPr sz="1050">
                <a:solidFill>
                  <a:srgbClr val="0F172A"/>
                </a:solidFill>
                <a:latin typeface="Calibri"/>
              </a:rPr>
              <a:t>•  No retry/backoff strategy for downstream calls · S</a:t>
            </a:r>
          </a:p>
          <a:p>
            <a:pPr>
              <a:spcAft>
                <a:spcPts val="300"/>
              </a:spcAft>
            </a:pPr>
            <a:r>
              <a:rPr sz="1050">
                <a:solidFill>
                  <a:srgbClr val="0F172A"/>
                </a:solidFill>
                <a:latin typeface="Calibri"/>
              </a:rPr>
              <a:t>•  Untyped tool parameters · S</a:t>
            </a:r>
          </a:p>
          <a:p>
            <a:pPr>
              <a:spcAft>
                <a:spcPts val="300"/>
              </a:spcAft>
            </a:pPr>
            <a:r>
              <a:rPr sz="1050">
                <a:solidFill>
                  <a:srgbClr val="0F172A"/>
                </a:solidFill>
                <a:latin typeface="Calibri"/>
              </a:rPr>
              <a:t>•  + 3 more</a:t>
            </a:r>
          </a:p>
        </p:txBody>
      </p:sp>
      <p:sp>
        <p:nvSpPr>
          <p:cNvPr id="23" name="TextBox 22"/>
          <p:cNvSpPr txBox="1"/>
          <p:nvPr/>
        </p:nvSpPr>
        <p:spPr>
          <a:xfrm>
            <a:off x="548640" y="6126480"/>
            <a:ext cx="10972800" cy="274320"/>
          </a:xfrm>
          <a:prstGeom prst="rect">
            <a:avLst/>
          </a:prstGeom>
          <a:noFill/>
        </p:spPr>
        <p:txBody>
          <a:bodyPr wrap="square" lIns="36576" rIns="36576" tIns="18288" bIns="18288" anchor="t">
            <a:spAutoFit/>
          </a:bodyPr>
          <a:lstStyle/>
          <a:p>
            <a:pPr algn="l"/>
            <a:r>
              <a:rPr sz="1000" b="0">
                <a:solidFill>
                  <a:srgbClr val="64748B"/>
                </a:solidFill>
                <a:latin typeface="Calibri"/>
              </a:rPr>
              <a:t>Effort: S ≈ hours · M ≈ days · L ≈ weeks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274320"/>
          </a:xfrm>
          <a:prstGeom prst="rect">
            <a:avLst/>
          </a:prstGeom>
          <a:noFill/>
        </p:spPr>
        <p:txBody>
          <a:bodyPr wrap="square" lIns="36576" rIns="36576" tIns="18288" bIns="18288" anchor="t">
            <a:spAutoFit/>
          </a:bodyPr>
          <a:lstStyle/>
          <a:p>
            <a:pPr algn="l"/>
            <a:r>
              <a:rPr sz="1050" b="1">
                <a:solidFill>
                  <a:srgbClr val="4338CA"/>
                </a:solidFill>
                <a:latin typeface="Calibri"/>
              </a:rPr>
              <a:t>RECOMMENDATION</a:t>
            </a:r>
          </a:p>
        </p:txBody>
      </p:sp>
      <p:sp>
        <p:nvSpPr>
          <p:cNvPr id="4" name="TextBox 3"/>
          <p:cNvSpPr txBox="1"/>
          <p:nvPr/>
        </p:nvSpPr>
        <p:spPr>
          <a:xfrm>
            <a:off x="548640" y="502920"/>
            <a:ext cx="10972800" cy="640080"/>
          </a:xfrm>
          <a:prstGeom prst="rect">
            <a:avLst/>
          </a:prstGeom>
          <a:noFill/>
        </p:spPr>
        <p:txBody>
          <a:bodyPr wrap="square" lIns="36576" rIns="36576" tIns="18288" bIns="18288" anchor="t">
            <a:spAutoFit/>
          </a:bodyPr>
          <a:lstStyle/>
          <a:p>
            <a:pPr algn="l"/>
            <a:r>
              <a:rPr sz="2600" b="1">
                <a:solidFill>
                  <a:srgbClr val="0F172A"/>
                </a:solidFill>
                <a:latin typeface="Calibri"/>
              </a:rPr>
              <a:t>Decision and conditions for go-live</a:t>
            </a:r>
          </a:p>
        </p:txBody>
      </p:sp>
      <p:sp>
        <p:nvSpPr>
          <p:cNvPr id="5" name="TextBox 4"/>
          <p:cNvSpPr txBox="1"/>
          <p:nvPr/>
        </p:nvSpPr>
        <p:spPr>
          <a:xfrm>
            <a:off x="548640" y="6473952"/>
            <a:ext cx="7315200" cy="274320"/>
          </a:xfrm>
          <a:prstGeom prst="rect">
            <a:avLst/>
          </a:prstGeom>
          <a:noFill/>
        </p:spPr>
        <p:txBody>
          <a:bodyPr wrap="square" lIns="36576" rIns="36576" tIns="18288" bIns="18288" anchor="t">
            <a:spAutoFit/>
          </a:bodyPr>
          <a:lstStyle/>
          <a:p>
            <a:pPr algn="l"/>
            <a:r>
              <a:rPr sz="900" b="0">
                <a:solidFill>
                  <a:srgbClr val="64748B"/>
                </a:solidFill>
                <a:latin typeface="Calibri"/>
              </a:rPr>
              <a:t>Assay · MCP production readiness audit — orders-mcp (sample) · 16 October 2026, 17:17 · Confidential</a:t>
            </a:r>
          </a:p>
        </p:txBody>
      </p:sp>
      <p:sp>
        <p:nvSpPr>
          <p:cNvPr id="6" name="TextBox 5"/>
          <p:cNvSpPr txBox="1"/>
          <p:nvPr/>
        </p:nvSpPr>
        <p:spPr>
          <a:xfrm>
            <a:off x="10911535" y="6473952"/>
            <a:ext cx="731520" cy="274320"/>
          </a:xfrm>
          <a:prstGeom prst="rect">
            <a:avLst/>
          </a:prstGeom>
          <a:noFill/>
        </p:spPr>
        <p:txBody>
          <a:bodyPr wrap="square" lIns="36576" rIns="36576" tIns="18288" bIns="18288" anchor="t">
            <a:spAutoFit/>
          </a:bodyPr>
          <a:lstStyle/>
          <a:p>
            <a:pPr algn="r"/>
            <a:r>
              <a:rPr sz="900" b="0">
                <a:solidFill>
                  <a:srgbClr val="64748B"/>
                </a:solidFill>
                <a:latin typeface="Calibri"/>
              </a:rPr>
              <a:t>10</a:t>
            </a:r>
          </a:p>
        </p:txBody>
      </p:sp>
      <p:sp>
        <p:nvSpPr>
          <p:cNvPr id="7" name="Rounded Rectangle 6"/>
          <p:cNvSpPr/>
          <p:nvPr/>
        </p:nvSpPr>
        <p:spPr>
          <a:xfrm>
            <a:off x="548640" y="1325880"/>
            <a:ext cx="4754880" cy="548640"/>
          </a:xfrm>
          <a:prstGeom prst="roundRect">
            <a:avLst>
              <a:gd name="adj" fmla="val 25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NO-GO — 35%</a:t>
            </a:r>
          </a:p>
        </p:txBody>
      </p:sp>
      <p:sp>
        <p:nvSpPr>
          <p:cNvPr id="8" name="TextBox 7"/>
          <p:cNvSpPr txBox="1"/>
          <p:nvPr/>
        </p:nvSpPr>
        <p:spPr>
          <a:xfrm>
            <a:off x="548640" y="2103120"/>
            <a:ext cx="5852160" cy="365760"/>
          </a:xfrm>
          <a:prstGeom prst="rect">
            <a:avLst/>
          </a:prstGeom>
          <a:noFill/>
        </p:spPr>
        <p:txBody>
          <a:bodyPr wrap="square" lIns="36576" rIns="36576" tIns="18288" bIns="18288" anchor="t">
            <a:spAutoFit/>
          </a:bodyPr>
          <a:lstStyle/>
          <a:p>
            <a:pPr algn="l"/>
            <a:r>
              <a:rPr sz="1500" b="1">
                <a:solidFill>
                  <a:srgbClr val="0F172A"/>
                </a:solidFill>
                <a:latin typeface="Calibri"/>
              </a:rPr>
              <a:t>Conditions</a:t>
            </a:r>
          </a:p>
        </p:txBody>
      </p:sp>
      <p:sp>
        <p:nvSpPr>
          <p:cNvPr id="9" name="TextBox 8"/>
          <p:cNvSpPr txBox="1"/>
          <p:nvPr/>
        </p:nvSpPr>
        <p:spPr>
          <a:xfrm>
            <a:off x="548640" y="2514600"/>
            <a:ext cx="5852160" cy="3657600"/>
          </a:xfrm>
          <a:prstGeom prst="rect">
            <a:avLst/>
          </a:prstGeom>
          <a:noFill/>
        </p:spPr>
        <p:txBody>
          <a:bodyPr wrap="square">
            <a:spAutoFit/>
          </a:bodyPr>
          <a:lstStyle/>
          <a:p>
            <a:pPr>
              <a:spcAft>
                <a:spcPts val="500"/>
              </a:spcAft>
            </a:pPr>
            <a:r>
              <a:rPr sz="1200">
                <a:solidFill>
                  <a:srgbClr val="0F172A"/>
                </a:solidFill>
                <a:latin typeface="Calibri"/>
              </a:rPr>
              <a:t>•  Address all critical vulnerabilities, implement authentication and authorization, remove blocking I/O operations, add rate limiting and quota management, improve…</a:t>
            </a:r>
          </a:p>
        </p:txBody>
      </p:sp>
      <p:sp>
        <p:nvSpPr>
          <p:cNvPr id="10" name="TextBox 9"/>
          <p:cNvSpPr txBox="1"/>
          <p:nvPr/>
        </p:nvSpPr>
        <p:spPr>
          <a:xfrm>
            <a:off x="6766560" y="2103120"/>
            <a:ext cx="4937760" cy="365760"/>
          </a:xfrm>
          <a:prstGeom prst="rect">
            <a:avLst/>
          </a:prstGeom>
          <a:noFill/>
        </p:spPr>
        <p:txBody>
          <a:bodyPr wrap="square" lIns="36576" rIns="36576" tIns="18288" bIns="18288" anchor="t">
            <a:spAutoFit/>
          </a:bodyPr>
          <a:lstStyle/>
          <a:p>
            <a:pPr algn="l"/>
            <a:r>
              <a:rPr sz="1500" b="1">
                <a:solidFill>
                  <a:srgbClr val="0F172A"/>
                </a:solidFill>
                <a:latin typeface="Calibri"/>
              </a:rPr>
              <a:t>Strengths to preserve</a:t>
            </a:r>
          </a:p>
        </p:txBody>
      </p:sp>
      <p:sp>
        <p:nvSpPr>
          <p:cNvPr id="11" name="TextBox 10"/>
          <p:cNvSpPr txBox="1"/>
          <p:nvPr/>
        </p:nvSpPr>
        <p:spPr>
          <a:xfrm>
            <a:off x="6766560" y="2514600"/>
            <a:ext cx="4937760" cy="2194560"/>
          </a:xfrm>
          <a:prstGeom prst="rect">
            <a:avLst/>
          </a:prstGeom>
          <a:noFill/>
        </p:spPr>
        <p:txBody>
          <a:bodyPr wrap="square">
            <a:spAutoFit/>
          </a:bodyPr>
          <a:lstStyle/>
          <a:p>
            <a:pPr>
              <a:spcAft>
                <a:spcPts val="400"/>
              </a:spcAft>
            </a:pPr>
            <a:r>
              <a:rPr sz="1200">
                <a:solidFill>
                  <a:srgbClr val="0F172A"/>
                </a:solidFill>
                <a:latin typeface="Calibri"/>
              </a:rPr>
              <a:t>•  The server supports streamable HTTP for communication, which is a positive aspect.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8229600" cy="274320"/>
          </a:xfrm>
          <a:prstGeom prst="rect">
            <a:avLst/>
          </a:prstGeom>
          <a:noFill/>
        </p:spPr>
        <p:txBody>
          <a:bodyPr wrap="square" lIns="36576" rIns="36576" tIns="18288" bIns="18288" anchor="t">
            <a:spAutoFit/>
          </a:bodyPr>
          <a:lstStyle/>
          <a:p>
            <a:pPr algn="l"/>
            <a:r>
              <a:rPr sz="1050" b="1">
                <a:solidFill>
                  <a:srgbClr val="4338CA"/>
                </a:solidFill>
                <a:latin typeface="Calibri"/>
              </a:rPr>
              <a:t>APPENDIX</a:t>
            </a:r>
          </a:p>
        </p:txBody>
      </p:sp>
      <p:sp>
        <p:nvSpPr>
          <p:cNvPr id="4" name="TextBox 3"/>
          <p:cNvSpPr txBox="1"/>
          <p:nvPr/>
        </p:nvSpPr>
        <p:spPr>
          <a:xfrm>
            <a:off x="548640" y="502920"/>
            <a:ext cx="10972800" cy="640080"/>
          </a:xfrm>
          <a:prstGeom prst="rect">
            <a:avLst/>
          </a:prstGeom>
          <a:noFill/>
        </p:spPr>
        <p:txBody>
          <a:bodyPr wrap="square" lIns="36576" rIns="36576" tIns="18288" bIns="18288" anchor="t">
            <a:spAutoFit/>
          </a:bodyPr>
          <a:lstStyle/>
          <a:p>
            <a:pPr algn="l"/>
            <a:r>
              <a:rPr sz="2600" b="1">
                <a:solidFill>
                  <a:srgbClr val="0F172A"/>
                </a:solidFill>
                <a:latin typeface="Calibri"/>
              </a:rPr>
              <a:t>Methodology &amp; coverage</a:t>
            </a:r>
          </a:p>
        </p:txBody>
      </p:sp>
      <p:sp>
        <p:nvSpPr>
          <p:cNvPr id="5" name="TextBox 4"/>
          <p:cNvSpPr txBox="1"/>
          <p:nvPr/>
        </p:nvSpPr>
        <p:spPr>
          <a:xfrm>
            <a:off x="548640" y="6473952"/>
            <a:ext cx="7315200" cy="274320"/>
          </a:xfrm>
          <a:prstGeom prst="rect">
            <a:avLst/>
          </a:prstGeom>
          <a:noFill/>
        </p:spPr>
        <p:txBody>
          <a:bodyPr wrap="square" lIns="36576" rIns="36576" tIns="18288" bIns="18288" anchor="t">
            <a:spAutoFit/>
          </a:bodyPr>
          <a:lstStyle/>
          <a:p>
            <a:pPr algn="l"/>
            <a:r>
              <a:rPr sz="900" b="0">
                <a:solidFill>
                  <a:srgbClr val="64748B"/>
                </a:solidFill>
                <a:latin typeface="Calibri"/>
              </a:rPr>
              <a:t>Assay · MCP production readiness audit — orders-mcp (sample) · 16 October 2026, 17:17 · Confidential</a:t>
            </a:r>
          </a:p>
        </p:txBody>
      </p:sp>
      <p:sp>
        <p:nvSpPr>
          <p:cNvPr id="6" name="TextBox 5"/>
          <p:cNvSpPr txBox="1"/>
          <p:nvPr/>
        </p:nvSpPr>
        <p:spPr>
          <a:xfrm>
            <a:off x="10911535" y="6473952"/>
            <a:ext cx="731520" cy="274320"/>
          </a:xfrm>
          <a:prstGeom prst="rect">
            <a:avLst/>
          </a:prstGeom>
          <a:noFill/>
        </p:spPr>
        <p:txBody>
          <a:bodyPr wrap="square" lIns="36576" rIns="36576" tIns="18288" bIns="18288" anchor="t">
            <a:spAutoFit/>
          </a:bodyPr>
          <a:lstStyle/>
          <a:p>
            <a:pPr algn="r"/>
            <a:r>
              <a:rPr sz="900" b="0">
                <a:solidFill>
                  <a:srgbClr val="64748B"/>
                </a:solidFill>
                <a:latin typeface="Calibri"/>
              </a:rPr>
              <a:t>11</a:t>
            </a:r>
          </a:p>
        </p:txBody>
      </p:sp>
      <p:sp>
        <p:nvSpPr>
          <p:cNvPr id="7" name="TextBox 6"/>
          <p:cNvSpPr txBox="1"/>
          <p:nvPr/>
        </p:nvSpPr>
        <p:spPr>
          <a:xfrm>
            <a:off x="548640" y="1325880"/>
            <a:ext cx="6035040" cy="4754880"/>
          </a:xfrm>
          <a:prstGeom prst="rect">
            <a:avLst/>
          </a:prstGeom>
          <a:noFill/>
        </p:spPr>
        <p:txBody>
          <a:bodyPr wrap="square">
            <a:spAutoFit/>
          </a:bodyPr>
          <a:lstStyle/>
          <a:p>
            <a:pPr>
              <a:spcAft>
                <a:spcPts val="600"/>
              </a:spcAft>
            </a:pPr>
            <a:r>
              <a:rPr sz="1200">
                <a:solidFill>
                  <a:srgbClr val="0F172A"/>
                </a:solidFill>
                <a:latin typeface="Calibri"/>
              </a:rPr>
              <a:t>•  Static analysis only — no code from the audited project is executed, installed or built.</a:t>
            </a:r>
          </a:p>
          <a:p>
            <a:pPr>
              <a:spcAft>
                <a:spcPts val="600"/>
              </a:spcAft>
            </a:pPr>
            <a:r>
              <a:rPr sz="1200">
                <a:solidFill>
                  <a:srgbClr val="0F172A"/>
                </a:solidFill>
                <a:latin typeface="Calibri"/>
              </a:rPr>
              <a:t>•  Python syntax-tree analysis with taint tracking from MCP tool parameters to sensitive sinks; multi-language pattern rules; project-level checks.</a:t>
            </a:r>
          </a:p>
          <a:p>
            <a:pPr>
              <a:spcAft>
                <a:spcPts val="600"/>
              </a:spcAft>
            </a:pPr>
            <a:r>
              <a:rPr sz="1200">
                <a:solidFill>
                  <a:srgbClr val="0F172A"/>
                </a:solidFill>
                <a:latin typeface="Calibri"/>
              </a:rPr>
              <a:t>•  MCP-specific checks: transports, authentication, token passthrough, DNS rebinding, tool poisoning, annotations, session IDs, output bounds.</a:t>
            </a:r>
          </a:p>
          <a:p>
            <a:pPr>
              <a:spcAft>
                <a:spcPts val="600"/>
              </a:spcAft>
            </a:pPr>
            <a:r>
              <a:rPr sz="1200">
                <a:solidFill>
                  <a:srgbClr val="0F172A"/>
                </a:solidFill>
                <a:latin typeface="Calibri"/>
              </a:rPr>
              <a:t>•  Standards: OWASP MCP Top 10 (2025), OWASP Top 10 for LLM Applications (2025), CWE, MCP specification 2025-06-18.</a:t>
            </a:r>
          </a:p>
          <a:p>
            <a:pPr>
              <a:spcAft>
                <a:spcPts val="600"/>
              </a:spcAft>
            </a:pPr>
            <a:r>
              <a:rPr sz="1200">
                <a:solidFill>
                  <a:srgbClr val="0F172A"/>
                </a:solidFill>
                <a:latin typeface="Calibri"/>
              </a:rPr>
              <a:t>•  LLM review annotates findings and assesses architecture; it can never remove a finding or lift a gate.</a:t>
            </a:r>
          </a:p>
          <a:p>
            <a:pPr>
              <a:spcAft>
                <a:spcPts val="600"/>
              </a:spcAft>
            </a:pPr>
            <a:r>
              <a:rPr sz="1200">
                <a:solidFill>
                  <a:srgbClr val="0F172A"/>
                </a:solidFill>
                <a:latin typeface="Calibri"/>
              </a:rPr>
              <a:t>•  Scalability and performance are inferred from code: confirm with a load test at the expected concurrency.</a:t>
            </a:r>
          </a:p>
        </p:txBody>
      </p:sp>
      <p:graphicFrame>
        <p:nvGraphicFramePr>
          <p:cNvPr id="8" name="Table 7"/>
          <p:cNvGraphicFramePr>
            <a:graphicFrameLocks noGrp="1"/>
          </p:cNvGraphicFramePr>
          <p:nvPr/>
        </p:nvGraphicFramePr>
        <p:xfrm>
          <a:off x="6949440" y="1325880"/>
          <a:ext cx="4754880" cy="1207008"/>
        </p:xfrm>
        <a:graphic>
          <a:graphicData uri="http://schemas.openxmlformats.org/drawingml/2006/table">
            <a:tbl>
              <a:tblPr firstRow="1" bandRow="1">
                <a:tableStyleId>{5C22544A-7EE6-4342-B048-85BDC9FD1C3A}</a:tableStyleId>
              </a:tblPr>
              <a:tblGrid>
                <a:gridCol w="2377440"/>
                <a:gridCol w="2377440"/>
              </a:tblGrid>
              <a:tr h="301752">
                <a:tc>
                  <a:txBody>
                    <a:bodyPr/>
                    <a:lstStyle/>
                    <a:p>
                      <a:r>
                        <a:rPr sz="1050" b="1">
                          <a:solidFill>
                            <a:srgbClr val="FFFFFF"/>
                          </a:solidFill>
                        </a:rPr>
                        <a:t>Coverage</a:t>
                      </a:r>
                    </a:p>
                  </a:txBody>
                  <a:tcPr>
                    <a:solidFill>
                      <a:srgbClr val="0F172A"/>
                    </a:solidFill>
                  </a:tcPr>
                </a:tc>
                <a:tc>
                  <a:txBody>
                    <a:bodyPr/>
                    <a:lstStyle/>
                    <a:p>
                      <a:r>
                        <a:rPr sz="1050" b="1">
                          <a:solidFill>
                            <a:srgbClr val="FFFFFF"/>
                          </a:solidFill>
                        </a:rPr>
                        <a:t>Status</a:t>
                      </a:r>
                    </a:p>
                  </a:txBody>
                  <a:tcPr>
                    <a:solidFill>
                      <a:srgbClr val="0F172A"/>
                    </a:solidFill>
                  </a:tcPr>
                </a:tc>
              </a:tr>
              <a:tr h="301752">
                <a:tc>
                  <a:txBody>
                    <a:bodyPr/>
                    <a:lstStyle/>
                    <a:p>
                      <a:r>
                        <a:rPr sz="1000">
                          <a:solidFill>
                            <a:srgbClr val="0F172A"/>
                          </a:solidFill>
                        </a:rPr>
                        <a:t>Assay built-in rules</a:t>
                      </a:r>
                    </a:p>
                  </a:txBody>
                  <a:tcPr>
                    <a:solidFill>
                      <a:srgbClr val="FFFFFF"/>
                    </a:solidFill>
                  </a:tcPr>
                </a:tc>
                <a:tc>
                  <a:txBody>
                    <a:bodyPr/>
                    <a:lstStyle/>
                    <a:p>
                      <a:r>
                        <a:rPr sz="1000">
                          <a:solidFill>
                            <a:srgbClr val="15803D"/>
                          </a:solidFill>
                        </a:rPr>
                        <a:t>ok</a:t>
                      </a:r>
                    </a:p>
                  </a:txBody>
                  <a:tcPr>
                    <a:solidFill>
                      <a:srgbClr val="FFFFFF"/>
                    </a:solidFill>
                  </a:tcPr>
                </a:tc>
              </a:tr>
              <a:tr h="301752">
                <a:tc>
                  <a:txBody>
                    <a:bodyPr/>
                    <a:lstStyle/>
                    <a:p>
                      <a:r>
                        <a:rPr sz="1000">
                          <a:solidFill>
                            <a:srgbClr val="0F172A"/>
                          </a:solidFill>
                        </a:rPr>
                        <a:t>bandit</a:t>
                      </a:r>
                    </a:p>
                  </a:txBody>
                  <a:tcPr>
                    <a:solidFill>
                      <a:srgbClr val="F8FAFC"/>
                    </a:solidFill>
                  </a:tcPr>
                </a:tc>
                <a:tc>
                  <a:txBody>
                    <a:bodyPr/>
                    <a:lstStyle/>
                    <a:p>
                      <a:r>
                        <a:rPr sz="1000">
                          <a:solidFill>
                            <a:srgbClr val="15803D"/>
                          </a:solidFill>
                        </a:rPr>
                        <a:t>ok</a:t>
                      </a:r>
                    </a:p>
                  </a:txBody>
                  <a:tcPr>
                    <a:solidFill>
                      <a:srgbClr val="F8FAFC"/>
                    </a:solidFill>
                  </a:tcPr>
                </a:tc>
              </a:tr>
              <a:tr h="301752">
                <a:tc>
                  <a:txBody>
                    <a:bodyPr/>
                    <a:lstStyle/>
                    <a:p>
                      <a:r>
                        <a:rPr sz="1000">
                          <a:solidFill>
                            <a:srgbClr val="0F172A"/>
                          </a:solidFill>
                        </a:rPr>
                        <a:t>LLM review</a:t>
                      </a:r>
                    </a:p>
                  </a:txBody>
                  <a:tcPr>
                    <a:solidFill>
                      <a:srgbClr val="FFFFFF"/>
                    </a:solidFill>
                  </a:tcPr>
                </a:tc>
                <a:tc>
                  <a:txBody>
                    <a:bodyPr/>
                    <a:lstStyle/>
                    <a:p>
                      <a:r>
                        <a:rPr sz="1000">
                          <a:solidFill>
                            <a:srgbClr val="64748B"/>
                          </a:solidFill>
                        </a:rPr>
                        <a:t>qwen2.5-coder:7b</a:t>
                      </a:r>
                    </a:p>
                  </a:txBody>
                  <a:tcPr>
                    <a:solidFill>
                      <a:srgbClr val="FFFFFF"/>
                    </a:solidFill>
                  </a:tcPr>
                </a:tc>
              </a:tr>
            </a:tbl>
          </a:graphicData>
        </a:graphic>
      </p:graphicFrame>
      <p:sp>
        <p:nvSpPr>
          <p:cNvPr id="9" name="TextBox 8"/>
          <p:cNvSpPr txBox="1"/>
          <p:nvPr/>
        </p:nvSpPr>
        <p:spPr>
          <a:xfrm>
            <a:off x="6949440" y="6035040"/>
            <a:ext cx="4754880" cy="274320"/>
          </a:xfrm>
          <a:prstGeom prst="rect">
            <a:avLst/>
          </a:prstGeom>
          <a:noFill/>
        </p:spPr>
        <p:txBody>
          <a:bodyPr wrap="square" lIns="36576" rIns="36576" tIns="18288" bIns="18288" anchor="t">
            <a:spAutoFit/>
          </a:bodyPr>
          <a:lstStyle/>
          <a:p>
            <a:pPr algn="l"/>
            <a:r>
              <a:rPr sz="900" b="0">
                <a:solidFill>
                  <a:srgbClr val="64748B"/>
                </a:solidFill>
                <a:latin typeface="Calibri"/>
              </a:rPr>
              <a:t>Assay 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